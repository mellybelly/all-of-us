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Title slide for the 30-minute WG-1 presentation to the AoU Science Committee.</a:t>
            </a:r>
          </a:p>
          <a:p>
            <a:r>
              <a:rPr sz="1000">
                <a:latin typeface="Helvetica"/>
              </a:rPr>
              <a:t>Co-leads Smoller and Haendel will jointly present. Plan: ~12 minutes of evidence and findings, ~12 minutes of recommendations, ~6 minutes of Q&amp;A and decision-asks.</a:t>
            </a:r>
          </a:p>
          <a:p>
            <a:r>
              <a:rPr sz="1000">
                <a:latin typeface="Helvetica"/>
              </a:rPr>
              <a:t>Audience: Science Committee, AoU program leadership (Schully, Roden, Lin), NIH program staff observers, and the other four 2026 WG leads who will fit their recommendations into whatever framework this WG endorses.</a:t>
            </a:r>
          </a:p>
          <a:p>
            <a:r>
              <a:rPr sz="1000">
                <a:latin typeface="Helvetica"/>
              </a:rPr>
              <a:t>Companion artifact: AoU_Roadmap_Refresh_Executive_Summary.pdf (one-page Sci Com pre-read).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slide 8 of '2026 Science Committee Working Groups.pptx' (the six Roadmap 2.0 Key Questions).</a:t>
            </a:r>
          </a:p>
          <a:p>
            <a:r>
              <a:rPr sz="1000">
                <a:latin typeface="Helvetica"/>
              </a:rPr>
              <a:t>The structural-review question (Q6) is the headline because focus-area structure is uniquely WG-1's responsibility — WG-2 (Translational), WG-3 (Imaging), WG-4 (AI), and WG-5 (Communications) all need to know what the framework looks like before they can finalize their own recommendations.</a:t>
            </a:r>
          </a:p>
          <a:p>
            <a:r>
              <a:rPr sz="1000">
                <a:latin typeface="Helvetica"/>
              </a:rPr>
              <a:t>The other five questions don't disappear; they get folded into the evidence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Phase numbering inside the evidence base:
- Phase 1: corpus acquisition + theme tagging
- Phase 2: validation + audit
- Phase 3a: 19→8 crosswalk
- Phase 3b: temporal trends pre/post-2023
- Phase 3c: IC alignment + gap analysis
- Phase 4: top-3 per WG with rubric scoring</a:t>
            </a:r>
          </a:p>
          <a:p>
            <a:r>
              <a:rPr sz="1000">
                <a:latin typeface="Helvetica"/>
              </a:rPr>
              <a:t>The rubric is Smoller's 8-criterion format from the 11/5/24 Pre-Processed Data subgroup deck. Worked-example scores landed mean 1.40–4.00; most are 3.0–3.8.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Corpus tally is Phase 2c audited substantive corpus. Earlier intake counts included program-meta and methods-not-yet-applied workspaces; we excluded those.</a:t>
            </a:r>
          </a:p>
          <a:p>
            <a:r>
              <a:rPr sz="1000">
                <a:latin typeface="Helvetica"/>
              </a:rPr>
              <a:t>The 4 peer biobanks were pulled via PubMed name-search with same-tagger keyword tagging — comparisons are internally consistent but absolute counts should not be treated as authoritative.</a:t>
            </a:r>
          </a:p>
          <a:p>
            <a:r>
              <a:rPr sz="1000">
                <a:latin typeface="Helvetica"/>
              </a:rPr>
              <a:t>The 8-criterion rubric: (1) unmet researcher need; (2) simplifies analysis; (3) standardizes/harmonizes; (4) broad use cases; (5) Scientific Roadmap alignment; (6) tool exists vs new development; (7) no new data collection; (8) helps with data quality. Each scored 1–4 (1=low, 4=high); N/A excluded.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aou-research-landscape/theme_summary.csv</a:t>
            </a:r>
          </a:p>
          <a:p>
            <a:r>
              <a:rPr sz="1000">
                <a:latin typeface="Helvetica"/>
              </a:rPr>
              <a:t>Theme 3 (Methods/AI) — 262 pubs / 2,388 projects, 18.4% pub share / 18.5% project share — is the single largest orphan in the 19→8 crosswalk. This is the empirical case for the 9th focus area.</a:t>
            </a:r>
          </a:p>
          <a:p>
            <a:r>
              <a:rPr sz="1000">
                <a:latin typeface="Helvetica"/>
              </a:rPr>
              <a:t>Theme 12 (Dermatology) at 13.9% share is anomalous and driven by 1–2 prolific groups per Phase 1 README; trend is declining (−4.4). Flagged on slide 18 (Caveats).</a:t>
            </a:r>
          </a:p>
          <a:p>
            <a:r>
              <a:rPr sz="1000">
                <a:latin typeface="Helvetica"/>
              </a:rPr>
              <a:t>Theme 6 (SDOH) at 33.3% is the largest single theme — defines AoU as a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aou-roadmap-refresh/crosswalk_19_to_8.md §4</a:t>
            </a:r>
          </a:p>
          <a:p>
            <a:r>
              <a:rPr sz="1000">
                <a:latin typeface="Helvetica"/>
              </a:rPr>
              <a:t>The crosswalk's Q6 answer in one paragraph: the 8 areas hold for disease anchoring (FA1 74%, FA8 54%, FA7 50%) but three structural problems exist — (a) theme 3 methods/AI orphan, (b) wearables orphan despite being a slide-7 priority, (c) multi-omics + imaging + AI buried in FA8 / theme 3.</a:t>
            </a:r>
          </a:p>
          <a:p>
            <a:r>
              <a:rPr sz="1000">
                <a:latin typeface="Helvetica"/>
              </a:rPr>
              <a:t>The 9th focus area is the single most important recommendation in the entire WG package — it's the one change ONLY this WG can make, and three downstream WGs (Imaging, AI, Communications) depend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aou-roadmap-refresh/temporal_trends.md §4–§5; phase4 cross_cutting_synthesis.md §3.</a:t>
            </a:r>
          </a:p>
          <a:p>
            <a:r>
              <a:rPr sz="1000">
                <a:latin typeface="Helvetica"/>
              </a:rPr>
              <a:t>These four areas are RESEARCHER-DRIVEN and need recognition, not investment. The framework change (9th focus area) is what makes them visible.</a:t>
            </a:r>
          </a:p>
          <a:p>
            <a:r>
              <a:rPr sz="1000">
                <a:latin typeface="Helvetica"/>
              </a:rPr>
              <a:t>Wearables specifically: the trend score is +0.2 — flat in relative terms. Wearables have already matured to a permanent place in the work but the framework hasn't caught up. This is a 'recognition gap, not growth gap' — important to surface explicitly so Sci Com doesn't try to invest in something that's already steady-state.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aou-roadmap-refresh/temporal_trends.md §4–§5; peer-biobanks/emerging_themes.md §1–§3.</a:t>
            </a:r>
          </a:p>
          <a:p>
            <a:r>
              <a:rPr sz="1000">
                <a:latin typeface="Helvetica"/>
              </a:rPr>
              <a:t>The clean split (4 realized + 4 aspirational) reframes the Q1 conversation. Instead of 'are we delivering on the 2023 priorities, yes or no?', the answer is: the researcher-driven priorities ARE delivering; the data-supply-dependent priorities are not, by construction, and need infrastructure decisions before they can.</a:t>
            </a:r>
          </a:p>
          <a:p>
            <a:r>
              <a:rPr sz="1000">
                <a:latin typeface="Helvetica"/>
              </a:rPr>
              <a:t>Environmental is the canonical demand-side gap: NIEHS has 6 plan priorities; AoU has 7 substantive pubs. This is the strongest evidence for the FA6 environmental-linkage commitment in Rec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aou-ic-alignment/gap_analysis.md §A (alignment hits) + per_ic_briefs/.</a:t>
            </a:r>
          </a:p>
          <a:p>
            <a:r>
              <a:rPr sz="1000">
                <a:latin typeface="Helvetica"/>
              </a:rPr>
              <a:t>NHGRI is the strongest current IC home for the genetics/multi-omics framing (Rec 2). NHGRI Bold Prediction #5 (millions of human participants) implicitly requires AoU; #9 (equitable benefit) is AoU's literal contribution.</a:t>
            </a:r>
          </a:p>
          <a:p>
            <a:r>
              <a:rPr sz="1000">
                <a:latin typeface="Helvetica"/>
              </a:rPr>
              <a:t>NIMHD G7 is the strongest 'AoU embodies a pan-NIH mandate' argument — the language is so specific to AoU's design that it reads as if written about AoU.</a:t>
            </a:r>
          </a:p>
          <a:p>
            <a:r>
              <a:rPr sz="1000">
                <a:latin typeface="Helvetica"/>
              </a:rPr>
              <a:t>NLM is the only IC plan that names AoU; NLM-G1-O2 (informatics R&amp;D) and NLM-G1-O4 (sustainable computational infrastructure) directly underwrite the 9th focus area.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aou-ic-alignment/gap_analysis.md §B (demand-side gaps).</a:t>
            </a:r>
          </a:p>
          <a:p>
            <a:r>
              <a:rPr sz="1000">
                <a:latin typeface="Helvetica"/>
              </a:rPr>
              <a:t>The four gap categories require different decision types — important to surface for Sci Com so the conversation doesn't conflate them:</a:t>
            </a:r>
          </a:p>
          <a:p>
            <a:r>
              <a:rPr sz="1000">
                <a:latin typeface="Helvetica"/>
              </a:rPr>
              <a:t>- Environment: engineering work (external data + geocoding). LOW cost, HIGH yield.
- Imaging: governance + release decision. HIGH cost. WG-3 owns.
- Multi-omics: mechanical closure via 2026 releases. Framework signal (FA8 rename) is the WG-1 lever.
- Aging/ADRD: engagement decision, not infrastructure. Cross-cutting flag, surfaces in WG-5 patient-facing comms.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peer-biobanks/aou_vs_peers_index.csv + emerging_themes.md.</a:t>
            </a:r>
          </a:p>
          <a:p>
            <a:r>
              <a:rPr sz="1000">
                <a:latin typeface="Helvetica"/>
              </a:rPr>
              <a:t>Under-indexed (left chart): multi-omics 1.7% vs UKB 10%, imaging 0.6% vs UKB 8.0%, microbiome 0.8% vs FinnGen 14%, rare disease 3.8% vs UKB 18%, aging 5.5% vs UKB 15.7%.</a:t>
            </a:r>
          </a:p>
          <a:p>
            <a:r>
              <a:rPr sz="1000">
                <a:latin typeface="Helvetica"/>
              </a:rPr>
              <a:t>Over-indexed (right chart): ELSI 26.3× peer median, SDOH 5.1×, PGx 4.6×, methods 3.0×. These are AoU's DEFENSIBLE IDENTITY — distinctive strengths the Refresh must preserve.</a:t>
            </a:r>
          </a:p>
          <a:p>
            <a:r>
              <a:rPr sz="1000">
                <a:latin typeface="Helvetica"/>
              </a:rPr>
              <a:t>Caveats: PubMed-name-search has known undercount (especially MVP); pre-2023 baseline is small (157 AoU pubs); use STATIC SHARE INDEX, not trend differentials. Dermatology 6.9× over-index is an artifact (1-2 prolific groups).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phase4-recommendations/wg1_roadmap_refresh.md (Top-3 with full rubric tables).</a:t>
            </a:r>
          </a:p>
          <a:p>
            <a:r>
              <a:rPr sz="1000">
                <a:latin typeface="Helvetica"/>
              </a:rPr>
              <a:t>Rec 1 (3.71 mean): 'Add a Data, AI &amp; Methods focus area.' 18% corpus orphan; HA4 33 AI pubs; NLM-G1 explicit alignment. Risk: Sci Com may prefer reorganization to addition; defend with the empirical orphan count.</a:t>
            </a:r>
          </a:p>
          <a:p>
            <a:r>
              <a:rPr sz="1000">
                <a:latin typeface="Helvetica"/>
              </a:rPr>
              <a:t>Rec 2 (3.38 mean): 'Rename FA8 + multi-omics roadmap.' Largest peer-comparative growth differential. The rename without the data is a hollow gesture; the data without the rename buries the work — recommendation explicitly pairs them.</a:t>
            </a:r>
          </a:p>
          <a:p>
            <a:r>
              <a:rPr sz="1000">
                <a:latin typeface="Helvetica"/>
              </a:rPr>
              <a:t>Rec 3 (3.00 mean): three small structural fixes bundled. FA4 toward ROR implementation (well-evidenced; theme 17 ELSI −12.3); FA2 → 'Maternal Health' (judgment about naming accuracy; politically sensitive — frame as accuracy not deprioritization); FA6 environmental linkage (largest demand-supply gap; engineering not data acquisition).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phase4-recommendations/wg2_translational.md.</a:t>
            </a:r>
          </a:p>
          <a:p>
            <a:r>
              <a:rPr sz="1000">
                <a:latin typeface="Helvetica"/>
              </a:rPr>
              <a:t>Rec 1 (3.50): TSBM = Translational Science Benefits Model (Luke et al., Eval Program Plan 2018). Citation/altmetric/RePORTER/NCT APIs all exist; curation and editorial work is new.</a:t>
            </a:r>
          </a:p>
          <a:p>
            <a:r>
              <a:rPr sz="1000">
                <a:latin typeface="Helvetica"/>
              </a:rPr>
              <a:t>Rec 2 (3.38): the named portfolio is the canonical translational-WG deliverable. PGx is the highest peer-index AoU-distinctive use case (4.6×); cardiometabolic+SDOH is the largest combined volume (382 disease pubs + 458 SDOH).</a:t>
            </a:r>
          </a:p>
          <a:p>
            <a:r>
              <a:rPr sz="1000">
                <a:latin typeface="Helvetica"/>
              </a:rPr>
              <a:t>Rec 3 (3.75 — highest WG-2 score): the bias framework is the keystone of the cross-WG hierarchy (WG-2 normative → WG-3 imaging → WG-4 AI). Sets the AoU bias-reporting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phase4-recommendations/wg3_imaging.md.</a:t>
            </a:r>
          </a:p>
          <a:p>
            <a:r>
              <a:rPr sz="1000">
                <a:latin typeface="Helvetica"/>
              </a:rPr>
              <a:t>Rec 2 (3.88 — highest WG-3 score): DICOM + FHIR + phecode crosswalk is the highest-leverage standards decision because it anchors imaging to existing AoU analytic infrastructure rather than fragmenting the user base.</a:t>
            </a:r>
          </a:p>
          <a:p>
            <a:r>
              <a:rPr sz="1000">
                <a:latin typeface="Helvetica"/>
              </a:rPr>
              <a:t>Cost reality: imaging is the single most expensive recommendation across all 5 WGs. Tier 1 is engineering; Tier 2 is governance; Tier 3 is the actual cost-bearing decision. Defend the staged approach.</a:t>
            </a:r>
          </a:p>
          <a:p>
            <a:r>
              <a:rPr sz="1000">
                <a:latin typeface="Helvetica"/>
              </a:rPr>
              <a:t>Also-considered: AI-radiomics pilot funding (hand to WG-4); UKB/NIH-IDC partnership (flag as cross-cohort validation pathway under Rec 1 Tier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phase4-recommendations/wg4_ai_strategies.md.</a:t>
            </a:r>
          </a:p>
          <a:p>
            <a:r>
              <a:rPr sz="1000">
                <a:latin typeface="Helvetica"/>
              </a:rPr>
              <a:t>Rec 1 (3.88): highest rubric mean in the entire set. The AI co-scientist is the single most-leveraged researcher-facing investment. Defends against 'hallucinations' risk via explicit-provenance design (every cohort/code block links back to source vocabulary entry). 'Build vs buy' answer: build AoU-specific scaffolding on existing foundation model, not the model itself.</a:t>
            </a:r>
          </a:p>
          <a:p>
            <a:r>
              <a:rPr sz="1000">
                <a:latin typeface="Helvetica"/>
              </a:rPr>
              <a:t>Rec 2 (3.50): inherits normative frame from WG-2's bias-in-translation framework. AI-specific failure modes (fairness-through-unawareness, label noise, miscalibration across subgroups, distribution shift) need AI-WG technical expertise.</a:t>
            </a:r>
          </a:p>
          <a:p>
            <a:r>
              <a:rPr sz="1000">
                <a:latin typeface="Helvetica"/>
              </a:rPr>
              <a:t>Rec 3 (3.50): evaluate, don't build. The field is moving so fast that any premature build will be obsolete on delivery. 2027 decision-deadline.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phase4-recommendations/wg5_communications.md.</a:t>
            </a:r>
          </a:p>
          <a:p>
            <a:r>
              <a:rPr sz="1000">
                <a:latin typeface="Helvetica"/>
              </a:rPr>
              <a:t>Rec 1 (3.57): Impact Report v1 within 12 months. WG-2 defines metrics; WG-5 produces the report. NIH precedent: BD2K, BRAIN Initiative, Cancer Moonshot all publish annual impact products.</a:t>
            </a:r>
          </a:p>
          <a:p>
            <a:r>
              <a:rPr sz="1000">
                <a:latin typeface="Helvetica"/>
              </a:rPr>
              <a:t>Rec 2 (3.60): the four-strength narrative is the MOST EVIDENCE-DRIVEN recommendation in any WG — peer-index numbers are precise from the corpus analysis. Distinctive ≠ growing; the headline rests on these four genuine over-indexes. Dermatology 6.9× over-index is an artifact (rehearsed answer required).</a:t>
            </a:r>
          </a:p>
          <a:p>
            <a:r>
              <a:rPr sz="1000">
                <a:latin typeface="Helvetica"/>
              </a:rPr>
              <a:t>Rec 3 (3.60): the 21 per-IC briefs in aou-ic-alignment/per_ic_briefs/ are mostly drafted. Productize them rather than rebuilding.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phase4-recommendations/cross_cutting_synthesis.md §1.</a:t>
            </a:r>
          </a:p>
          <a:p>
            <a:r>
              <a:rPr sz="1000">
                <a:latin typeface="Helvetica"/>
              </a:rPr>
              <a:t>The five interlocks should be in the Sci Com's awareness because they determine whether the WGs ship semi-aligned outputs that compete or genuinely-aligned outputs that compound.</a:t>
            </a:r>
          </a:p>
          <a:p>
            <a:r>
              <a:rPr sz="1000">
                <a:latin typeface="Helvetica"/>
              </a:rPr>
              <a:t>CC-5 (Aging/ADRD) is a flag because no Top-3 currently owns it. AoU is at 6.0% post-2023 (≈peer median, index 0.84×) and growing (+4.7), but still trailing UKB's +6.9 surge in the lecanemab/donanemab era. Structural advantage (EHR + UBR diversity); the gap is narrowing rather than flat, so this is now a weaker-evidence flag than in the prior draft. NIA engagement workstream is the natural answer; outside any current Top-3.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aou-research-landscape/README.md; peer-biobanks/emerging_themes.md §caveats; phase4-recommendations/README.md.</a:t>
            </a:r>
          </a:p>
          <a:p>
            <a:r>
              <a:rPr sz="1000">
                <a:latin typeface="Helvetica"/>
              </a:rPr>
              <a:t>The dermatology caveat is NON-NEGOTIABLE to include — if Sci Com or external audiences see 'dermatology peer-index 6.9×' without context, they may push to elevate dermatology, which would mislead the Roadmap. Phase 1 README flagged the 1-2-prolific-groups origin; Phase 3b temporal trends show declining share.</a:t>
            </a:r>
          </a:p>
          <a:p>
            <a:r>
              <a:rPr sz="1000">
                <a:latin typeface="Helvetica"/>
              </a:rPr>
              <a:t>The peer-biobank fallback caveat protects against over-reading single-peer trend differentials. The static share index is what we ranked recommendations on.</a:t>
            </a:r>
          </a:p>
          <a:p>
            <a:r>
              <a:rPr sz="1000">
                <a:latin typeface="Helvetica"/>
              </a:rPr>
              <a:t>The pre-2023 baseline caveat is why we don't use AoU-internal pre/post trends as the headline growth metric — we use the peer-comparative gap analysis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The four explicit asks the Sci Com should take action on:</a:t>
            </a:r>
          </a:p>
          <a:p>
            <a:r>
              <a:rPr sz="1000">
                <a:latin typeface="Helvetica"/>
              </a:rPr>
              <a:t>(1) ENDORSE the 9th focus area — frame-defining; can only be done by this WG.
(2) ENDORSE the FA8 rename + commission the proteomics roadmap — pair the structural signal with the data investment.
(3) COMMISSION the cross-WG bias framework hierarchy — WG-2 (Sanchez &amp; Cohn) convenes WG-3 + WG-4.
(4) ALLOCATE time at the next Sci Com for the structural-framework vote — sequence WG-1 decisions BEFORE the other four WGs' Top-3 are finalized.</a:t>
            </a:r>
          </a:p>
          <a:p>
            <a:r>
              <a:rPr sz="1000">
                <a:latin typeface="Helvetica"/>
              </a:rPr>
              <a:t>Smaller asks tucked in: surface Aging/ADRD as a Tier-2 priority for WG-5 patient-facing story.</a:t>
            </a:r>
          </a:p>
          <a:p>
            <a:r>
              <a:rPr sz="1000">
                <a:latin typeface="Helvetica"/>
              </a:rPr>
              <a:t>If Sci Com only takes one action: endorse the 9th focus area. It's the structural prerequisite for everything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0"/>
            <a:ext cx="91440" cy="685800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51560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3A6B"/>
                </a:solidFill>
                <a:latin typeface="Helvetica"/>
              </a:rPr>
              <a:t>All of Us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3A6B"/>
                </a:solidFill>
                <a:latin typeface="Helvetica"/>
              </a:rPr>
              <a:t>Scientific Roadmap Refresh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5156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1">
                <a:solidFill>
                  <a:srgbClr val="216BB3"/>
                </a:solidFill>
                <a:latin typeface="Helvetica"/>
              </a:rPr>
              <a:t>Recommendations to the 2026 Science Committee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572000"/>
            <a:ext cx="5486400" cy="1905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09160"/>
            <a:ext cx="10515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Working Group 1 — Scientific Roadmap Refresh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5156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Georgia"/>
              </a:rPr>
              <a:t>Co-leads:  Jordan Smoller  •  Melissa Haendel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3212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66666"/>
                </a:solidFill>
                <a:latin typeface="Georgia"/>
              </a:rPr>
              <a:t>Draft  •  June 2, 2026  •  for WG circulation and Science Committee pre-read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Our charge: refresh the Roadmap against Roadmap 2.0's six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WG-1 owns framework changes that no other WG can make. We must answer them so WG-2/3/4/5 have a coherent home.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has changed since 2023? </a:t>
            </a:r>
            <a:r>
              <a:rPr sz="1700">
                <a:solidFill>
                  <a:srgbClr val="333333"/>
                </a:solidFill>
                <a:latin typeface="Georgia"/>
              </a:rPr>
              <a:t>— evidence from the AoU corpus and the field's scientific direction.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are the biggest data gaps? </a:t>
            </a:r>
            <a:r>
              <a:rPr sz="1700">
                <a:solidFill>
                  <a:srgbClr val="333333"/>
                </a:solidFill>
                <a:latin typeface="Georgia"/>
              </a:rPr>
              <a:t>— where IC strategic plans demand capability AoU isn't yet producing.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How do we ensure research reproducibility? </a:t>
            </a:r>
            <a:r>
              <a:rPr sz="1700">
                <a:solidFill>
                  <a:srgbClr val="333333"/>
                </a:solidFill>
                <a:latin typeface="Georgia"/>
              </a:rPr>
              <a:t>— framework, tooling, and culture expectations for the next 5 years.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new tools are needed? </a:t>
            </a:r>
            <a:r>
              <a:rPr sz="1700">
                <a:solidFill>
                  <a:srgbClr val="333333"/>
                </a:solidFill>
                <a:latin typeface="Georgia"/>
              </a:rPr>
              <a:t>— researcher-facing capability the Workbench must add or enable.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exposures and outcomes should we capture, and how do we demonstrate impact? </a:t>
            </a:r>
            <a:r>
              <a:rPr sz="1700">
                <a:solidFill>
                  <a:srgbClr val="333333"/>
                </a:solidFill>
                <a:latin typeface="Georgia"/>
              </a:rPr>
              <a:t>— scope, instruments, and translational-impact measurement.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Are the 8 priority focus areas still right? </a:t>
            </a:r>
            <a:r>
              <a:rPr sz="1700">
                <a:solidFill>
                  <a:srgbClr val="333333"/>
                </a:solidFill>
                <a:latin typeface="Georgia"/>
              </a:rPr>
              <a:t>— structural review of the framework. ONLY this WG can change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760720"/>
            <a:ext cx="11064240" cy="5943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33872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1A3A6B"/>
                </a:solidFill>
                <a:latin typeface="Georgia"/>
              </a:rPr>
              <a:t>Strategic implication: only WG-1 can change the framework. Imaging, AI, and Communications recommendations must fit inside whatever we decide.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We took a five-step, evidence-driven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Every recommendation here can be traced to a primary corpus, IC plan, peer biobank, or rubric cell.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32588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37160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0992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the AoU corpus — 1,428 substantive publications + 12,899 substantive workspace projects, theme-tagged against a locked 19-theme taxonomy.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33172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37744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71576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AoU themes onto 29 NIH strategic plans (NIH-Wide + 21 ICs + cross-cutting). Extracted 166 priority statements; built a corpus × IC alignment matrix.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33756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38328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Compare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72160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AoU corpus against 4 peer biobanks (UK Biobank, FinnGen, MVP, China Kadoorie) using a same-tagger keyword approach — calibrates AoU's distinctive contributions and gaps.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34340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3891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Identify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72744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structural framework gaps, emerging research themes, and demand-supply mismatches across the 8 focus areas.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534924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39496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73328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candidate recommendations against the 8-criterion Sci Com rubric (the format Smoller established in November 2024) and rank the Top-3 per WG.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Evidence base: numbers that anchor every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Where claims rest on small samples (peer biobanks, pre-2023 baseline), we flag the limitation explicitly.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1,428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substantive AoU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publications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10128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128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12,899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substantive workspace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projects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17336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17336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17336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8776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NIH strategic plans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(NIH-Wide + 21 ICs)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24544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24544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24544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984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IC strategic priorities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extracted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peer-biobank corpora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(UKB, FinnGen, MVP, CKB)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10128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10128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1568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themes in the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locked taxonomy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17336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17336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17336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08776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current AoU Roadmap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focus areas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24544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24544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24544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15984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Sci Com rubric criteria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(Smoller, Nov 2024)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The 19-theme taxonomy: where AoU science actually lives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Cardiometabolic, Genomics, and Methods/AI together make up ~70% of the corpus.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56235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Helvetica"/>
              </a:rPr>
              <a:t># THEME                                                                      SHARE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078992"/>
            <a:ext cx="56235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Helvetica"/>
              </a:rPr>
              <a:t># THEME                                                                      SHARE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28016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28016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Cardiometabolic disease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28016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28.4%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527048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" y="152704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52704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Genomics methods &amp; complex-trait genetics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52704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24.9%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1773936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" y="177393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77393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Methods, infrastructure &amp; phenotyping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177393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18.4%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020824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" y="202082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02082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Mental health, behavioral &amp; substance use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202082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18.8%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267712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" y="226771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26771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Cancer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226771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12.8%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514600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7784" y="251460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251460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Social determinants &amp; health disparities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51460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32.9%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2761488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7784" y="276148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276148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Wearables &amp; digital health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0" y="276148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5.4%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008376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7784" y="300837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300837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Infectious disease &amp; immunology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0" y="300837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6.0%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3255264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7784" y="325526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325526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Autoimmune &amp; inflammatory disease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03520" y="325526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7.6%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502152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7784" y="350215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350215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Rare disease &amp; Mendelian genetics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03520" y="350215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3.8%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1280160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18504" y="128016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128016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Aging, frailty &amp; ADRD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128016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5.5%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1527048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18504" y="152704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20840" y="152704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Dermatology (artifact — flag)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64240" y="152704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13.9%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63640" y="1773936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18504" y="177393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20840" y="177393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Respiratory &amp; sleep medicine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064240" y="177393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4.2%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3640" y="2020824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18504" y="202082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20840" y="202082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Neurology (non-ADRD)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64240" y="202082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5.7%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2267712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18504" y="226771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20840" y="226771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Pregnancy, maternal &amp; women's health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064240" y="226771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2.7%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263640" y="2514600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318504" y="251460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20840" y="251460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Pharmacogenomics &amp; drug response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64240" y="251460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2.4%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63640" y="2761488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18504" y="276148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20840" y="276148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ELSI, participant engagement &amp; recruitment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064240" y="276148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4.9%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3008376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18504" y="300837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20840" y="300837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Ophthalmology, ENT &amp; sensory medicine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64240" y="300837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7.6%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3255264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318504" y="325526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20840" y="325526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Environmental health &amp; climate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064240" y="325526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0.6%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2920" y="5989320"/>
            <a:ext cx="111556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Highlighted: Theme 3 (Methods/AI) is the single largest corpus orphan — currently with NO home in the 8-area framework.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" y="6263640"/>
            <a:ext cx="111556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Georgia"/>
              </a:rPr>
              <a:t>Shares are share-of-corpus-touched (pubs can multi-tag); rows therefore sum &gt;100%.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The 8 focus areas mostly hold — but three structural gaps need fixing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Q6 answer: yes at the top level, with three named exceptions only WG-1 can address.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3721608" cy="393192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ORPHAN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Methods, AI &amp; 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51760"/>
            <a:ext cx="3538728" cy="2560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18% of substantive pubs (262) and 19% of projects (2,388) have NO clean home in the 8-area framework.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Includes the AI/foundation-model surge (HA4: 33 pubs, 30 post-2023), workbench tooling, EHR phenotyping, federated learning.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Sub-signal: AoU peer-index 3.0× — distinctive AoU strength currently invisible in the framework.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256" y="1280160"/>
            <a:ext cx="3721608" cy="393192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1416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ORPHAN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1416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Wearables / remote monitoring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2651760"/>
            <a:ext cx="3538728" cy="2560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75 pubs (5.4% share) — slide-7 priority that has nowhere to live in the 8 areas.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Trend is flat (+0.2) — wearables have already MATURED, not emerging. Important reframe.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Stretch-fit into FA5 (Behavioral) misses sleep, HRV, circadian, multimodal EHR+wearable AI work.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65592" y="1280160"/>
            <a:ext cx="3721608" cy="393192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65592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INVISIBLE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Multi-omics inside "Genetics &amp; Biology"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651760"/>
            <a:ext cx="3538728" cy="2560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Multi-omics is a slide-7 2023+ priority that is buried inside FA8.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HA1: 24 pubs (23 post-2023), mostly external proteomics linked to AoU genotypes.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Largest peer-comparative growth differential: UKB 12.2% post-2023 vs AoU 1.8%. 2026 omics releases need a NAMED home.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394960"/>
            <a:ext cx="11201400" cy="868680"/>
          </a:xfrm>
          <a:prstGeom prst="rect">
            <a:avLst/>
          </a:prstGeom>
          <a:solidFill>
            <a:srgbClr val="FFF7E8"/>
          </a:solidFill>
          <a:ln w="1524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440680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35900"/>
                </a:solidFill>
                <a:latin typeface="Helvetica"/>
              </a:rPr>
              <a:t>WG-1 recommendation (Rec 1): add a 9th focus area — "Data, AI &amp; Methods"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760720"/>
            <a:ext cx="10835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333333"/>
                </a:solidFill>
                <a:latin typeface="Georgia"/>
              </a:rPr>
              <a:t>Absorbs theme 3 (the 18% orphan), wearables, AI/foundation models, and imaging-as-data once it flows. Without it, WG-3 (Imaging) and WG-4 (AI) recommendations have no coherent home in the Roadmap.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Four slide-7 priorities are already realized in the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Q1 (what's changed since 2023): the AoU researcher base is delivering on these without further investment.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AI / LLMs / foundation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33 pubs (HA4); 30 post-2023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PMID:39794311 foundation-model phenome-wide onset prediction; PMID:40417537 DL time-to-event depression/asthma; PMID:40750633 PAL-AI oocyte maturation.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Theme 3 peer-index 3.0×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Breakthrough therapeutics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20 pubs (HA8); 19 post-2023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GLP-1 hepatic decompensation (PMID:41847743); third-line CRC cost-effectiveness (PMID:41807852); obesity meds vs bariatric trends (PMID:41741949).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Clearest 'translation in progress' signal in the corpus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Wearables / remote monitoring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75 pubs (HA2); 67 post-2023; trend flat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Mature, not emerging. Sleep-stage, HRV, circadian, multimodal EHR+wearable AI work all happening — but invisible in the focus-area framework.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Reframe: recognition gap, not growth gap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G×E×SDOH integrated holistic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11 pubs (HA6); 0 pre-2023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Genuinely novel category. PMID:41518215 PRS + neighborhood disorder + sleep; PMID:42109163 CoQ10 PRS + statin myopathy.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AoU positioned to LEAD the field 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Four slide-7 priorities are aspirational — pending upstream investment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Q1 (continued): these need data-supply or sample-collection decisions, not researcher engagement.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Multi-omics beyond genomics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24 pubs (HA1); 23 post-2023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Mostly external proteomics/metabolomics linked to AoU genotypes (PMID:41712304 COPD proteomics+PRS; PMID:40050615 fibroid GWAS+eQTL).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UKB 12.2% post-2023 / AoU 1.8% — largest growth differential. 2026 release closes mechanically.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Imaging / radiomics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8 pubs total (HA3) — below thin-coverage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All 8 use EXTERNAL imaging linked to AoU phenotypes (UKB MRI, EHR mammography). No AoU-originated imaging.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AoU corpus shows almost no imaging delivery yet. WG-3 starts from infrastructure.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Nutrition / microbiome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11 pubs (HA7); structurally limited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AoU dietary surveys thin vs UKB 24-hour recall; no stool biospecimens collected.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UKB 11.3% / FinnGen 14.6% post-2023 / AoU 0.8%. Requires sample-collection decision.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Environmental health &amp; climate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13 pubs (HA5); 8 substantive (theme 19)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Largest single demand-supply gap in the IC alignment matrix. NIEHS has 6 plan priorities tagged here.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Requires PM2.5 / EJI / heat / water linkage investment — engineering, not data acquisition.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Three IC alignments stand out as AoU's strongest current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is anchored on plain-text plan language we can quote in funding conversations.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4308"/>
                <a:gridCol w="4032504"/>
                <a:gridCol w="4704588"/>
              </a:tblGrid>
              <a:tr h="41148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IC × Theme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Why it's strong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Anchor language we can cite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NHGRI × Genomics methods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Largest single matrix cell. AoU delivers Bold Prediction #9 (equitable benefit from genomics for ancestrally diverse populations).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"…the equitable benefit of genomics for all populations." — NHGRI 2020 Strategic Vision, BP #9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NIMHD × SDOH / disparities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Goal 7 literally describes the AoU mandate. AoU 32.9% SDOH share; 5.1× peer median.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"…analysis of populations experiencing health disparities in big data sets, clinical research, and future big science initiatives." — NIMHD G7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NLM × Methods / infrastructure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The only IC plan that explicitly names All of Us. Theme 3: 262 pubs, 2,388 projects.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"NLM will engage with the entire NIH to determine how to accommodate data generated in … All of Us." — NLM 2017–2027 Strategic Plan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577840"/>
            <a:ext cx="11201400" cy="777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650992"/>
            <a:ext cx="10835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1">
                <a:solidFill>
                  <a:srgbClr val="1A3A6B"/>
                </a:solidFill>
                <a:latin typeface="Georgia"/>
              </a:rPr>
              <a:t>Headline read: lead the WG-1 narrative with the genomics-and-genomics story; NIMHD G7 is the strongest political-defense anchor; NLM is the only mission-explicit partner.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Three demand-side gaps: ICs want capability AoU isn't yet producing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requires a different kind of decision (engineering, governance, or sample collection).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NIEHS × Environment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6 IC priorities  ↔  7 AoU substantive pubs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30552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LARGEST demand-supply gap in the entire matrix.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834640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Engineering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3154679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PM2.5, EJI, heat, water — external public data + AoU geocoding.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NCI / NEI / NIBIB × Imaging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Multiple IC priorities  ↔  8 AoU pubs total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2130552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Data-supply problem (no AoU imaging release), not researcher demand problem.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834640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Governance + release 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154679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Tier 1 retinal/ECG/spirometry; Tier 2 EHR DICOM; Tier 3 prospective.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NIDDK / NHLBI × Multi-omics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NIDDK RO 1.3 + NHLBI Obj 4  ↔  24 AoU pubs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4672584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Mostly external proteomics linked to AoU genotypes today.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5376672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Closes mechanically — 2026 omics release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5696711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Plus FA8 rename to send a forward signal (Rec 2).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NIA × Aging / ADRD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Lecanemab/donanemab era  ↔  AoU at 6.0% (near peer median)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6792" y="4672584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Peer growth (UKB +6.9; MVP +5.4; CKB +5.1 post-2023); AoU growing (+4.7) but trailing UKB despite structural advantage.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5376672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Engagement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5696711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Surfaces as cross-cutting flag (no single WG owns it; CC-5).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Peer-biobank comparison: AoU's gaps and AoU's distinctive strengths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Same-tagger keyword search across UK Biobank (11,868 pubs), FinnGen (3,152), MVP (438), and CKB (558) — full PubMed census.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35900"/>
                </a:solidFill>
                <a:latin typeface="Helvetica"/>
              </a:rPr>
              <a:t>Where AoU is UNDER-INDEXED vs peers</a:t>
            </a:r>
          </a:p>
        </p:txBody>
      </p:sp>
      <p:pic>
        <p:nvPicPr>
          <p:cNvPr id="7" name="Picture 6" descr="peer_under_inde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08760"/>
            <a:ext cx="5852160" cy="28452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118872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6BB3"/>
                </a:solidFill>
                <a:latin typeface="Helvetica"/>
              </a:rPr>
              <a:t>Where AoU LEADS the peer median</a:t>
            </a:r>
          </a:p>
        </p:txBody>
      </p:sp>
      <p:pic>
        <p:nvPicPr>
          <p:cNvPr id="9" name="Picture 8" descr="distinctive_strength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508760"/>
            <a:ext cx="5806440" cy="272670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5669280"/>
            <a:ext cx="11201400" cy="777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742432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1A3A6B"/>
                </a:solidFill>
                <a:latin typeface="Helvetica"/>
              </a:rPr>
              <a:t>The narrative sentence (for the Sci Com presentation and WG-5 ambassador toolkit):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989320"/>
            <a:ext cx="108356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1">
                <a:solidFill>
                  <a:srgbClr val="1A3A6B"/>
                </a:solidFill>
                <a:latin typeface="Georgia"/>
              </a:rPr>
              <a:t>"Every other cohort scaled up genomics; AoU scaled up everything around genomics that genomics actually needs to work in practice."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WG-1 Top-3: the framework changes only this WG can make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Rubric scores in parentheses. Each row includes the concrete decision we ask the Sci Com to make.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8056"/>
                <a:gridCol w="3360420"/>
                <a:gridCol w="4368546"/>
                <a:gridCol w="1008126"/>
                <a:gridCol w="2016252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Action requested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Add a 9th focus area: "Data, AI &amp; Methods"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Absorbs theme 3 (18% orphan), wearables (HA2 75 pubs), AI/foundation models (HA4 33 pubs), and imaging-as-data once it flows.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3.71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B35900"/>
                          </a:solidFill>
                          <a:latin typeface="Georgia"/>
                        </a:rPr>
                        <a:t>ENDORSE the framework addition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Rename FA8 → "Genetics, Multi-omics &amp; Biology" + commit to proteomics roadmap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Signal that 2026 omics releases (Olink / SomaScan) have a home. UKB 12.2% post-2023 / AoU 1.8% — largest growth differential.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3.38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B35900"/>
                          </a:solidFill>
                          <a:latin typeface="Georgia"/>
                        </a:rPr>
                        <a:t>ENDORSE rename + AUTHORIZE release roadmap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Bundle FA reframes: FA4 toward ROR implementation; FA2 → "Maternal Health"; FA6 environmental-exposure linkage commitment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FA4 trend −9.6 (ELSI work maturing out, ROR implementation continues); FA2 has no Child content; FA6 is the largest demand-supply gap.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3.00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B35900"/>
                          </a:solidFill>
                          <a:latin typeface="Georgia"/>
                        </a:rPr>
                        <a:t>DISCUSS + vote on the three sub-items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669280"/>
            <a:ext cx="11201400" cy="77724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42432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Why these and not more?  The Sci Com rubric format limits us to three. Each here is structural; each is uniquely WG-1.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989320"/>
            <a:ext cx="108356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333333"/>
                </a:solidFill>
                <a:latin typeface="Georgia"/>
              </a:rPr>
              <a:t>Aging/ADRD, microbiome, reproducibility framework, subcontinental ancestry — surfaced in cross-cutting synthesis as Tier-2 or other-WG.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WG-2 Translational: define what counts as translational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Sanchez &amp; Cohn. Recommendations bridge WG-1's framework and WG-5's reporting.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Adopt a formal translational-impact metric set (TSBM-based)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Replication in peers; consortium adoption (RDCRN, ClinGen, GREGoR, eMERGE); FDA/CMS citations; NCT enablement; CDC/USPSTF/NAM citations.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Name 3–5 priority translational use cases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ACMG actionable-gene implementation (54 pubs/433 projects); multi-ancestry PRS clinical pilots; PGx implementation (4.6× peer); cardiometabolic+SDOH; RWE for breakthrough therapeutics.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Bias-in-translation framework — AoU as pan-NIH diversity benchmark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AoU UBR oversample as a citable diversity reference. ELSI 26.3× + SDOH 5.1× are the political-defense argument. FDA Modernization Act 2.0 creates a regulatory window.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3.75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333333"/>
                </a:solidFill>
                <a:latin typeface="Georgia"/>
              </a:rPr>
              <a:t>WG-2 also-considered (deprioritized): NCATS-Translator data linkage; partner-cohort replication pipeline; RWE for breakthrough therapeutics (folded into Rec 2 as use case).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WG-3 Imaging: starting from infrastructure, not utilization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Burnside &amp; Giannini. The 2026 Imaging WG begins with 8 corpus pubs — the question is data release, not research demand.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Staged imaging release roadmap by modality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Tier 1: retinal photos, ECG/spirometry waveforms (lowest friction). Tier 2: EHR DICOM (chest X-ray, CT, mammography). Tier 3: prospective MRI in subcohort.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3.25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DICOM + FHIR-ImagingStudy standards; radiomics-to-phecode crosswalk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Anchor imaging features to the existing phecode analytic spine (Smoller's 3.80 rubric). NLM-G1 + NIBIB-G4 alignment.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Pre-launch data-quality + bias-audit framework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Inherits the WG-2 bias-in-translation framework. Image-QC per modality; UBR representation audit; per-image 'bias report card'; governance for derivative datasets.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Reality check: AoU corpus has 8 imaging pubs (HA3, ~0.6%), almost all using EXTERNAL imaging linked to AoU phenotypes. WG-3 starts from infrastructure.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WG-4 AI Strategies: researchers are already using AI — define what AoU provides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Sastry. HA4 already has 33 AI pubs (30 post-2023); the question is what AoU builds, integrates, or governs.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AoU Workbench AI co-scientist (cohort-builder + code-generator)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NL-to-OMOP/phecode/PRS cohort definition + analytic skeleton. Builds on phecode + CLAMP infrastructure. Reduces time-to-first-result Workbench friction.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3.88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AI governance + bias-mitigation framework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Bias auditing for AoU-derived AI; data-use review (training vs inference); Workbench-native bias-audit template; IRB/ELSI integration for participant-facing AI.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Foundation-model evaluation framework (build-vs-buy by end of 2027)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Structured evaluation of existing EHR foundation models (Med-PaLM, EHR-FM family) against AoU benchmarks. Explicit decision-deadline rather than open question.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1">
                <a:solidFill>
                  <a:srgbClr val="B35900"/>
                </a:solidFill>
                <a:latin typeface="Georgia"/>
              </a:rPr>
              <a:t>Rec 1 (3.88) is the HIGHEST RUBRIC MEAN across all 5 WGs. Direct researcher impact + standardizes use of validated phenotypes + simplifies analysis.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WG-5 Scientific Communications: turn the corpus evidence into legible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Korf. Converts framework + metrics + distinctive evidence into Sci Com / IC / Congressional / participant products.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Annual AoU Impact Report (built on WG-2's TSBM metrics)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Single externally-citable artifact aggregating translational, scientific, equity, and engagement performance. Publish v1 within 12 months.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3.57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Plain-language distinctive-evidence narrative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ELSI 26.3× + SDOH 5.1× + PGx 4.6× + methods 3.0×. Anchors the Sci Com ambassador toolkit and IC-PO briefings. "AoU scaled up everything around genomics that genomics needs to work."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Five audience-tuned dissemination products + Sci Com ambassador toolkit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Researcher digest; per-IC briefs (21 already drafted); Congressional 2-page brief; annual participant report; journalist story-pitch sheets.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3.60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1">
                <a:solidFill>
                  <a:srgbClr val="1A3A6B"/>
                </a:solidFill>
                <a:latin typeface="Georgia"/>
              </a:rPr>
              <a:t>The distinctive-evidence narrative (Rec 2) is the political-defense story under which every other WG's recommendations should be read.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Five cross-WG dependencies the Sci Com should coordinate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Without these handshakes the WGs ship semi-aligned outputs that compete instead of compounding.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44168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09928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316736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9th focus area enables WG-3 + WG-4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682496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WG-1's framework change is the structural prerequisite for both Imaging and AI work to have a coherent home.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86000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331720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697480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304288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Bias-framework hierarchy across WG-2 / WG-3 / WG-4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2670048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WG-2 normative framework → WG-3 imaging audit → WG-4 AI audit. Three WGs should align on a SINGLE AoU bias-reporting standard.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73552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685032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291840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WG-2 metrics feed WG-5 Impact 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657600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WG-2 defines TSBM metrics; WG-5 produces the annual Report. Coordinate cadence so Report v1 ships within 12 months.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261104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306824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672584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4279392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WG-5 narrative requires WG-1 framework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645152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The distinctive-evidence narrative depends on framework being settled. Pre-Sci Com circulation should sequence WG-1 → WG-5.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248656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294376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660136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40" y="5266944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Aging/ADRD — no WG owns it cleanly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5632704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Narrowing peer gap (AoU 6.0% post-2023, ~peer median 0.84×, trend +4.7 vs UKB +6.9 / MVP +5.4 / CKB +5.1). FLAG for WG leads; consider Tier-2 priority + WG-5 patient story.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Caveats — three things the Sci Com should know before acting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caveat is a reason to be careful, not a reason to discount the analysis.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280160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298448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Dermatology over-representation is an ARTIFACT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91640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Dermatology is 13.9% of the corpus and 6.9× the peer median — but driven by 1–2 prolific groups, not a strategic priority. Trend score −4.4 (declining share). Do NOT elevate dermatology in the Refresh even though the share index suggests it. WG-5 ambassador toolkit must have the artifact answer rehearsed.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907792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926080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Peer-biobank counts use PubMed name-search fallback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19272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UKB, FinnGen, MVP, and CKB corpora come from PubMed name-search with same-tagger keyword tagging — now full PubMed censuses (UKB 11,868; FinnGen 3,152; MVP 438; CKB 558). Internally consistent across peers but absolute counts under- and over-count differently. USE THE STATIC SHARE INDEX, not trend differentials, for action-relevant comparisons. MVP corpus is small (438); single-MVP signals need a second-peer corroboration.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535424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553712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AoU pre-2023 baseline is tiny (157 pubs)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946904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Any active post-2023 theme will trend positive in AoU's split simply because the corpus grew ~8.1× from pre- to post-2023. Apparent 'growth' on cardiometabolic, mental health, and cancer is largely a small-baseline artifact — read as 'AoU has built a presence here,' not 'AoU is uniquely outpacing the field.' True growth signals come from the peer-comparison panel, not from the AoU-internal pre/post split.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What we ask the Science Committee to 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Four concrete decisions today; one calendar commitment for the cross-WG hierarchy.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1920240" cy="96012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19202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Helvetica"/>
              </a:rPr>
              <a:t>ENDORSE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325880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the addition of a 9th focus area: "Data, AI &amp; Methods"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783080"/>
            <a:ext cx="909828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333333"/>
                </a:solidFill>
                <a:latin typeface="Georgia"/>
              </a:rPr>
              <a:t>Frame-defining for WG-3 (Imaging) and WG-4 (AI). Without it, downstream WG work is permanently orphaned.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377440"/>
            <a:ext cx="1920240" cy="96012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606040"/>
            <a:ext cx="19202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Helvetica"/>
              </a:rPr>
              <a:t>ENDORSE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2423160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the FA8 rename to "Genetics, Multi-omics &amp; Biology" + commission the proteomics-release roadmap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880360"/>
            <a:ext cx="909828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333333"/>
                </a:solidFill>
                <a:latin typeface="Georgia"/>
              </a:rPr>
              <a:t>Signals to the field that the 2026 omics releases have a home. Pair the rename with the data investment.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474720"/>
            <a:ext cx="1920240" cy="96012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703320"/>
            <a:ext cx="19202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Helvetica"/>
              </a:rPr>
              <a:t>COMMISSION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520440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the cross-WG bias-in-translation framework hierarchy (WG-2 normative → WG-3 imaging → WG-4 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977640"/>
            <a:ext cx="909828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333333"/>
                </a:solidFill>
                <a:latin typeface="Georgia"/>
              </a:rPr>
              <a:t>Single AoU bias-reporting standard rather than three semi-aligned frameworks. WG-2 (Sanchez &amp; Cohn) convenes.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572000"/>
            <a:ext cx="1920240" cy="96012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800600"/>
            <a:ext cx="19202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Helvetica"/>
              </a:rPr>
              <a:t>ALLOCATE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4617720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time at the next Science Committee for the structural-framework vote (FA9 + FA8 rename + FA reframes)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5074920"/>
            <a:ext cx="909828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333333"/>
                </a:solidFill>
                <a:latin typeface="Georgia"/>
              </a:rPr>
              <a:t>These three structural decisions are the WG-1 deliverable; they should be settled before the other four WGs' Top-3 are finalized.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760720"/>
            <a:ext cx="11201400" cy="5943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815584"/>
            <a:ext cx="10835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1">
                <a:solidFill>
                  <a:srgbClr val="FFFFFF"/>
                </a:solidFill>
                <a:latin typeface="Helvetica"/>
              </a:rPr>
              <a:t>Thank you. We look forward to the Committee's discussion.   —  Jordan Smoller &amp; Melissa Haendel, WG-1 Co-leads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