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Title slide for the 30-minute WG-1 presentation to the AoU Science Committee.</a:t>
            </a:r>
          </a:p>
          <a:p>
            <a:r>
              <a:rPr sz="1000">
                <a:latin typeface="Helvetica"/>
              </a:rPr>
              <a:t>Co-leads Smoller and Haendel will jointly present. Plan: ~12 minutes of evidence and findings, ~12 minutes of recommendations, ~6 minutes of Q&amp;A and decision-asks.</a:t>
            </a:r>
          </a:p>
          <a:p>
            <a:r>
              <a:rPr sz="1000">
                <a:latin typeface="Helvetica"/>
              </a:rPr>
              <a:t>Audience: Science Committee, AoU program leadership (Schully, Roden, Lin), NIH program staff observers, and the other four 2026 need-area groups whose recommendations align with the refreshed framework.</a:t>
            </a:r>
          </a:p>
          <a:p>
            <a:r>
              <a:rPr sz="1000">
                <a:latin typeface="Helvetica"/>
              </a:rPr>
              <a:t>Companion artifact: AoU_Roadmap_Refresh_Executive_Summary.pdf (Sci Com pre-read).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slide 8 of '2026 Science Committee Working Groups.pptx' (the six Roadmap 2.0 Key Questions).</a:t>
            </a:r>
          </a:p>
          <a:p>
            <a:r>
              <a:rPr sz="1000">
                <a:latin typeface="Helvetica"/>
              </a:rPr>
              <a:t>The structural-review question (Q6) is the headline because focus-area structure is uniquely WG-1's responsibility - WG-2 (Translational), WG-3 (Imaging), WG-4 (AI), and WG-5 (Communications) all need to know what the framework looks like before they can finalize their own recommendations.</a:t>
            </a:r>
          </a:p>
          <a:p>
            <a:r>
              <a:rPr sz="1000">
                <a:latin typeface="Helvetica"/>
              </a:rPr>
              <a:t>The other five questions don't disappear; they get folded into the evidence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Phase numbering inside the evidence base: - Phase 1: corpus acquisition + theme tagging - Phase 2: validation + audit - Phase 3a: 19→8 crosswalk - Phase 3b: temporal trends pre/post-2023 - Phase 3c: IC alignment + gap analysis - Phase 4: top-3 per WG with rubric scoring</a:t>
            </a:r>
          </a:p>
          <a:p>
            <a:r>
              <a:rPr sz="1000">
                <a:latin typeface="Helvetica"/>
              </a:rPr>
              <a:t>The rubric is Smoller's 8-criterion format from the 11/5/24 Pre-Processed Data subgroup deck. Worked-example scores landed mean 1.40–4.00; most are 3.0–3.8.</a:t>
            </a:r>
          </a:p>
          <a:p>
            <a:r>
              <a:rPr sz="1000">
                <a:latin typeface="Helvetica"/>
              </a:rPr>
              <a:t>Co-lead and data-descriptor references: Smoller, EHR for psychiatric phenotyping and genomics (Am J Med Genet B 2018, doi.org/10.1002/ajmg.b.32548); AoU core-data descriptors Cronin et al. initial surveys (Epidemiology 2019) and Tesfaye et al. social determinants of health (Sci Rep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Corpus tally is Phase 2c audited substantive corpus. Earlier intake counts included program-meta and methods-not-yet-applied workspaces; we excluded those.</a:t>
            </a:r>
          </a:p>
          <a:p>
            <a:r>
              <a:rPr sz="1000">
                <a:latin typeface="Helvetica"/>
              </a:rPr>
              <a:t>The 4 peer biobanks were pulled via PubMed name-search with same-tagger keyword tagging - comparisons are internally consistent but absolute counts should not be treated as authoritative.</a:t>
            </a:r>
          </a:p>
          <a:p>
            <a:r>
              <a:rPr sz="1000">
                <a:latin typeface="Helvetica"/>
              </a:rPr>
              <a:t>The 8-criterion rubric: (1) unmet researcher need; (2) simplifies analysis; (3) standardizes/harmonizes; (4) broad use cases; (5) Scientific Roadmap alignment; (6) tool exists vs new development; (7) no new data collection; (8) helps with data quality. Each scored 1–4 (1=low, 4=high); N/A excluded.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aou-research-landscape/theme_summary.csv</a:t>
            </a:r>
          </a:p>
          <a:p>
            <a:r>
              <a:rPr sz="1000">
                <a:latin typeface="Helvetica"/>
              </a:rPr>
              <a:t>Theme 3 (Methods/AI) - 307 pubs / 2,388 projects, 18.6% pub share / 18.5% project share - is the single largest orphan in the 19→8 crosswalk. This is the empirical case for the 9th focus area.</a:t>
            </a:r>
          </a:p>
          <a:p>
            <a:r>
              <a:rPr sz="1000">
                <a:latin typeface="Helvetica"/>
              </a:rPr>
              <a:t>Theme 12 (Dermatology) at 12.8% share is anomalous and driven by 1–2 prolific groups per Phase 1 README; trend is declining (−5.5). Flagged on slide 18 (Caveats).</a:t>
            </a:r>
          </a:p>
          <a:p>
            <a:r>
              <a:rPr sz="1000">
                <a:latin typeface="Helvetica"/>
              </a:rPr>
              <a:t>Theme 6 (SDOH) at 33.3% is the largest single theme - defines AoU as a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aou-roadmap-refresh/crosswalk_19_to_8.md §4</a:t>
            </a:r>
          </a:p>
          <a:p>
            <a:r>
              <a:rPr sz="1000">
                <a:latin typeface="Helvetica"/>
              </a:rPr>
              <a:t>The crosswalk's Q6 answer in one paragraph: the 8 areas hold for disease anchoring (FA1 74%, FA8 55%, FA7 49%) but three structural problems exist - (a) theme 3 methods/AI orphan, (b) wearables with no home despite being a 2023 Roadmap priority, (c) multi-omics + imaging + AI buried in FA8 / theme 3.</a:t>
            </a:r>
          </a:p>
          <a:p>
            <a:r>
              <a:rPr sz="1000">
                <a:latin typeface="Helvetica"/>
              </a:rPr>
              <a:t>The 9th focus area is the single most important recommendation - the structural change the Imaging, AI, and Communications need areas all build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The 'prior vs future' view in one place. The eight 2020 focus areas still describe most of the science, so most are kept. Four are reframes (Maternal &amp; Child Health -&gt; Maternal Health; Return of Results -&gt; implementation; Environment -&gt; explicit exposure-linkage; Genetics &amp; Biology -&gt; Genetics, Multi-omics &amp; Biology). The single structural change is the 9th focus area, 'Data, AI &amp; Methods', which gives the ~18% orphan and the AI/foundation-model surge a coherent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phase4 cross_cutting_synthesis.md §3.</a:t>
            </a:r>
          </a:p>
          <a:p>
            <a:r>
              <a:rPr sz="1000">
                <a:latin typeface="Helvetica"/>
              </a:rPr>
              <a:t>These four areas are RESEARCHER-DRIVEN and need recognition, not investment. The framework change (9th focus area) is what makes them visible.</a:t>
            </a:r>
          </a:p>
          <a:p>
            <a:r>
              <a:rPr sz="1000">
                <a:latin typeface="Helvetica"/>
              </a:rPr>
              <a:t>Wearables specifically: the trend score is +0.2 - flat in relative terms. Wearables have already matured to a permanent place in the work but the framework hasn't caught up. This is a 'recognition gap, not growth gap' - important to surface explicitly so Sci Com doesn't try to invest in something that's already steady-state.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peer-biobanks/emerging_themes.md §1–§3.</a:t>
            </a:r>
          </a:p>
          <a:p>
            <a:r>
              <a:rPr sz="1000">
                <a:latin typeface="Helvetica"/>
              </a:rPr>
              <a:t>The clean split (4 realized + 4 aspirational) reframes the Q1 conversation. Instead of 'are we delivering on the 2023 priorities, yes or no?', the answer is: the researcher-driven priorities ARE delivering; the data-supply-dependent priorities are not, by construction, and need infrastructure decisions before they can.</a:t>
            </a:r>
          </a:p>
          <a:p>
            <a:r>
              <a:rPr sz="1000">
                <a:latin typeface="Helvetica"/>
              </a:rPr>
              <a:t>Environmental is the canonical demand-side gap: NIEHS has 6 plan priorities; AoU has 7 substantive pubs. This is the strongest evidence for the FA6 environmental-linkage commitment in Rec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§A (alignment hits) + per_ic_briefs/.</a:t>
            </a:r>
          </a:p>
          <a:p>
            <a:r>
              <a:rPr sz="1000">
                <a:latin typeface="Helvetica"/>
              </a:rPr>
              <a:t>NHGRI is the strongest current IC home for the genetics/multi-omics framing (Rec 2). NHGRI Bold Prediction #5 (millions of human participants) implicitly requires AoU; #9 (equitable benefit) is AoU's literal contribution.</a:t>
            </a:r>
          </a:p>
          <a:p>
            <a:r>
              <a:rPr sz="1000">
                <a:latin typeface="Helvetica"/>
              </a:rPr>
              <a:t>NIMHD G7 is the strongest 'AoU embodies a pan-NIH mandate' argument - the language is so specific to AoU's design that it reads as if written about AoU.</a:t>
            </a:r>
          </a:p>
          <a:p>
            <a:r>
              <a:rPr sz="1000">
                <a:latin typeface="Helvetica"/>
              </a:rPr>
              <a:t>NLM is the only IC plan that names AoU; NLM-G1-O2 (informatics R&amp;D) and NLM-G1-O4 (sustainable computational infrastructure) directly underwrite the 9th focus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§B (demand-side gaps).</a:t>
            </a:r>
          </a:p>
          <a:p>
            <a:r>
              <a:rPr sz="1000">
                <a:latin typeface="Helvetica"/>
              </a:rPr>
              <a:t>The four gap categories require different decision types - important to surface for Sci Com so the conversation doesn't conflate them: - Environment: engineering work (external data + geocoding). LOW cost, HIGH yield. - Imaging: governance + release decision. HIGH cost. WG-3 owns. - Multi-omics: mechanical closure via 2026 releases. Framework signal (FA8 rename) is the WG-1 lever. - Aging/ADRD: engagement decision, not infrastructure. Cross-cutting flag, surfaces in WG-5 patient-facing comms.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peer-biobanks/aou_vs_peers_index.csv + emerging_themes.md.</a:t>
            </a:r>
          </a:p>
          <a:p>
            <a:r>
              <a:rPr sz="1000">
                <a:latin typeface="Helvetica"/>
              </a:rPr>
              <a:t>Under-indexed (left chart): multi-omics 1.7% vs UKB 10%, imaging 0.6% vs UKB 8.0%, microbiome 0.8% vs FinnGen 14%, rare disease 3.8% vs UKB 18%, aging 5.5% vs UKB 15.7%.</a:t>
            </a:r>
          </a:p>
          <a:p>
            <a:r>
              <a:rPr sz="1000">
                <a:latin typeface="Helvetica"/>
              </a:rPr>
              <a:t>Over-indexed (right chart): ELSI 24.0× peer median, SDOH 5.4×, PGx 4.3×, methods 2.8×. These are AoU's DEFENSIBLE IDENTITY - distinctive strengths the Refresh must preserve.</a:t>
            </a:r>
          </a:p>
          <a:p>
            <a:r>
              <a:rPr sz="1000">
                <a:latin typeface="Helvetica"/>
              </a:rPr>
              <a:t>Caveats: PubMed-name-search has known undercount (especially MVP); pre-2023 baseline is small (157 AoU pubs); use STATIC SHARE INDEX, not trend differentials. Dermatology 6.4× over-index is an artifact (1-2 prolific groups).</a:t>
            </a:r>
          </a:p>
          <a:p>
            <a:r>
              <a:rPr sz="1000">
                <a:latin typeface="Helvetica"/>
              </a:rPr>
              <a:t>Supporting AoU references: the SDOH over-index is grounded in Tesfaye et al. (Sci Rep 2024); diverse-cohort genotype-phenotype discovery is exemplified by Khajouei et al., APOE phenome-wide association in All of Us (EBioMedicine 2025).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emerging-trends/emerging_trends_report.md (full method + tiers).</a:t>
            </a:r>
          </a:p>
          <a:p>
            <a:r>
              <a:rPr sz="1000">
                <a:latin typeface="Helvetica"/>
              </a:rPr>
              <a:t>METHOD: open-discovery horizon scan. Pulled 322,138 bioRxiv+medRxiv preprints and 460,285 NIH RePORTER grants (2021-2026). Computed term-acceleration (recent vs prior doc-share), induced ~24 emerging topics via LLM clustering (not the locked 19-theme taxonomy), gap-checked each vs AoU (1,653) + the 4 peer biobanks + published-literature trajectory, then overlaid AoU data-asset feasibility.</a:t>
            </a:r>
          </a:p>
          <a:p>
            <a:r>
              <a:rPr sz="1000">
                <a:latin typeface="Helvetica"/>
              </a:rPr>
              <a:t>WHY THIS MATTERS: preprints/grants lead published work by 1-2 years, so this is the leading edge. AoU is &lt;0.3% on essentially every fast-rising AI/ML topic. The Tier-1 table is filtered to what AoU CAN do; Tier-2 (single-cell/spatial/protein-structure) is flagged as outside AoU's data model on purpose.</a:t>
            </a:r>
          </a:p>
          <a:p>
            <a:r>
              <a:rPr sz="1000">
                <a:latin typeface="Helvetica"/>
              </a:rPr>
              <a:t>CAVEAT: some grant growth multipliers are inflated by RePORTER controlled-vocabulary onsets (e.g. 'anti-viral agents' prior=0); the AI findings rest on named tools in author-written preprint text (AlphaFold3, GPT-4o/5, DeepSeek, Boltz-2), which are trustworthy. Keyword coverage is substring-based, so AoU % are directional - but order-of-magnitude gaps (0.x% vs a 47× field) are robust.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aou-roadmap-refresh/ancillary_studies.md. Goals verified against the official NIH page (nih.gov/allofus/funding/partnered-research-studies, reviewed 2026-07-16); EtM goal quoted verbatim ("add objective behavioral health data"). Workspace counts from the 2026-10-14 production pull (32,922 workspaces) vs the old 2025-10-24 snapshot (21,242); "new" = present now but absent then. Publication/preprint absence verified live via Europe PMC incl. SRC:PPR preprints - the 3 nominal "All of Us"+"Exploring the Mind" hits are coincidental phrase matches, not EtM-data papers.</a:t>
            </a:r>
          </a:p>
          <a:p>
            <a:r>
              <a:rPr sz="1000">
                <a:latin typeface="Helvetica"/>
              </a:rPr>
              <a:t>WHY A DEDICATED SLIDE: the user asked that ancillary-study goals be represented across deliverables even where data is not yet released. These studies are the program's leading edge; the publication corpus lags released data by 1-2 years, so scoring opportunity on literature alone undervalues them. WEAR/Fitbit is treated as a core modality (Wearables &amp; digital health theme), not a partnered study, per the NIH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phase4-recommendations/wg1_roadmap_refresh.md (Top-3 with full rubric tables).</a:t>
            </a:r>
          </a:p>
          <a:p>
            <a:r>
              <a:rPr sz="1000">
                <a:latin typeface="Helvetica"/>
              </a:rPr>
              <a:t>Rec 1 (3.71 mean): 'Add a Data, AI &amp; Methods focus area.' 18% corpus orphan; HA4 37 AI pubs; NLM-G1 explicit alignment. EXTERNAL EVIDENCE (slide 12 horizon scan): the two fastest-rising, AoU-feasible white-space gaps in the entire biomedical literature - genomic foundation models and LLMs/agentic AI - are precisely this focus area's content, and AoU is &lt;0.3% present in both. The field has already moved here; the framework hasn't. Risk: Sci Com may prefer reorganization to addition; defend with the empirical orphan count + the horizon scan.</a:t>
            </a:r>
          </a:p>
          <a:p>
            <a:r>
              <a:rPr sz="1000">
                <a:latin typeface="Helvetica"/>
              </a:rPr>
              <a:t>Rec 2 (3.38 mean): 'Rename FA8 + multi-omics roadmap.' Largest peer-comparative growth differential. The rename without the data is a hollow gesture; the data without the rename buries the work - recommendation explicitly pairs them.</a:t>
            </a:r>
          </a:p>
          <a:p>
            <a:r>
              <a:rPr sz="1000">
                <a:latin typeface="Helvetica"/>
              </a:rPr>
              <a:t>Rec 3 (3.00 mean): three small structural fixes bundled. FA4 toward ROR implementation (well-evidenced; theme 17 ELSI −12.4); FA2 → 'Maternal Health' (judgment about naming accuracy; politically sensitive - frame as accuracy not deprioritization); FA6 environmental linkage (largest demand-supply gap; engineering not data acquisition).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phase4-recommendations/wg2_translational.md.</a:t>
            </a:r>
          </a:p>
          <a:p>
            <a:r>
              <a:rPr sz="1000">
                <a:latin typeface="Helvetica"/>
              </a:rPr>
              <a:t>Rec 1 (3.50): TSBM = Translational Science Benefits Model (Luke et al., Eval Program Plan 2018). Citation/altmetric/RePORTER/NCT APIs all exist; curation and editorial work is new.</a:t>
            </a:r>
          </a:p>
          <a:p>
            <a:r>
              <a:rPr sz="1000">
                <a:latin typeface="Helvetica"/>
              </a:rPr>
              <a:t>Rec 2 (3.38): the named portfolio is the canonical translational need-area set. PGx is the highest peer-index AoU-distinctive use case (4.6×); cardiometabolic+SDOH is the largest combined volume (382 disease pubs + 458 SDOH).</a:t>
            </a:r>
          </a:p>
          <a:p>
            <a:r>
              <a:rPr sz="1000">
                <a:latin typeface="Helvetica"/>
              </a:rPr>
              <a:t>Rec 3 (3.75 - highest WG-2 score): the bias framework is the keystone of the cross-WG hierarchy (WG-2 normative → WG-3 imaging → WG-4 AI). Sets the AoU bias-reporting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phase4-recommendations/wg3_imaging.md.</a:t>
            </a:r>
          </a:p>
          <a:p>
            <a:r>
              <a:rPr sz="1000">
                <a:latin typeface="Helvetica"/>
              </a:rPr>
              <a:t>Rec 2 (3.88 - highest WG-3 score): DICOM + FHIR + phecode crosswalk is the highest-leverage standards decision because it anchors imaging to existing AoU analytic infrastructure rather than fragmenting the user base.</a:t>
            </a:r>
          </a:p>
          <a:p>
            <a:r>
              <a:rPr sz="1000">
                <a:latin typeface="Helvetica"/>
              </a:rPr>
              <a:t>Cost reality: imaging is the single most expensive recommendation across all 5 WGs. Tier 1 is engineering; Tier 2 is governance; Tier 3 is the actual cost-bearing decision. Defend the staged approach.</a:t>
            </a:r>
          </a:p>
          <a:p>
            <a:r>
              <a:rPr sz="1000">
                <a:latin typeface="Helvetica"/>
              </a:rPr>
              <a:t>Also-considered: AI-radiomics pilot funding (hand to WG-4); UKB/NIH-IDC partnership (flag as cross-cohort validation pathway under Rec 1 Tier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phase4-recommendations/wg4_ai_strategies.md.</a:t>
            </a:r>
          </a:p>
          <a:p>
            <a:r>
              <a:rPr sz="1000">
                <a:latin typeface="Helvetica"/>
              </a:rPr>
              <a:t>Rec 1 (3.88): highest rubric mean in the entire set. The AI co-scientist is the single most-leveraged researcher-facing investment. Defends against 'hallucinations' risk via explicit-provenance design (every cohort/code block links back to source vocabulary entry). 'Build vs buy' answer: build AoU-specific scaffolding on existing foundation model, not the model itself.</a:t>
            </a:r>
          </a:p>
          <a:p>
            <a:r>
              <a:rPr sz="1000">
                <a:latin typeface="Helvetica"/>
              </a:rPr>
              <a:t>Rec 2 (3.50): inherits normative frame from WG-2's bias-in-translation framework. AI-specific failure modes (fairness-through-unawareness, label noise, miscalibration across subgroups, distribution shift) need AI-WG technical expertise.</a:t>
            </a:r>
          </a:p>
          <a:p>
            <a:r>
              <a:rPr sz="1000">
                <a:latin typeface="Helvetica"/>
              </a:rPr>
              <a:t>Rec 3 (3.50): evaluate, don't build. The field is moving so fast that any premature build will be obsolete on delivery. 2027 decision-deadline.</a:t>
            </a:r>
          </a:p>
          <a:p>
            <a:r>
              <a:rPr sz="1000">
                <a:latin typeface="Helvetica"/>
              </a:rPr>
              <a:t>HORIZON-SCAN BACKING: the external scan ranks LLMs/agentic AI as the #2 actionable white-space gap (published LLM-in-medicine work up 47× 2021→2025; AoU at 0.2%) and genomic foundation models #1 - strengthening Rec 1 (co-scientist) and Rec 3 (FM evaluation). It also bounds scope: single-cell/spatial/protein-structure foundation models are real but outside AoU's data model - AoU should evaluate genomic + EHR FMs, not chase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rw-analysis/ (part1_capability_gaps.md, part2_trending_methods.md, part3_recommended_tools.md, baa_llm_egress_evidence.md).</a:t>
            </a:r>
          </a:p>
          <a:p>
            <a:r>
              <a:rPr sz="1000">
                <a:latin typeface="Helvetica"/>
              </a:rPr>
              <a:t>METHOD + CITATION INTEGRITY: AoU RW benchmarked across 8 dimensions vs N3C, Terra/AnVIL, BioData Catalyst, UKB-RAP, Kids First. Every claim carries a URL + verbatim quote that was re-fetched and confirmed on-page; 87/87 citations verified (audit trail in citations_verified.csv). Unverifiable claims were dropped.</a:t>
            </a:r>
          </a:p>
          <a:p>
            <a:r>
              <a:rPr sz="1000">
                <a:latin typeface="Helvetica"/>
              </a:rPr>
              <a:t>GAPS (verified): (1) reuse registry - AoU has workspace sharing only; Dockstore (Terra/AnVIL), BDC public apps, Cavatica publish-your-own, N3C branching/GitHub export all exceed it; corroborated by Part 2 workspace data (87.7% solo, 3.2% multi-institution, ~18% duplicate-title clones) on the refreshed 32,922-workspace census. (2) governed LLM - RW 2.0 ships Claude Code + Gemini CLI but BYO-key, so not usable on participant data; LLM/RAG/agentic ~0% in workspaces. (3) portability - no CWL/WDL/DRS analysis packaging.</a:t>
            </a:r>
          </a:p>
          <a:p>
            <a:r>
              <a:rPr sz="1000">
                <a:latin typeface="Helvetica"/>
              </a:rPr>
              <a:t>CONVERGENCE: an unreleased 2026 ACT-IAC/AoU draft white paper ("Advancing AI/ML for the NIH All of Us Research Program") reaches the SAME conclusions from stakeholder interviews - its Focus Area 2 recommends (a) reusable research assets (phenotype/feature libraries, validated notebooks, workflow templates), (b) a governed in-environment AI research assistant with MCP metadata services ("bring the model to the data; assistant gets no broader access than the researcher"), (c) portable workflows + graduated partner-tool certification, and (d) a hybrid/federated compute model (STRIDES/NAIRR). Independent qualitative corroboration of our quantitative gap analysis.</a:t>
            </a:r>
          </a:p>
          <a:p>
            <a:r>
              <a:rPr sz="1000">
                <a:latin typeface="Helvetica"/>
              </a:rPr>
              <a:t>COMMITTEE-ENDORSED (Roadmap Refresh WG, 2026-10-14): a proposed "super user group" (Ginsburg) to guide data strategy and build shared reusable resources - including an INTERNAL All of Us foundation model hosted securely in the cloud with NO data egress. This unifies the two top recommendations (genomic foundation models + governed in-environment AI) into one program-owned build.</a:t>
            </a:r>
          </a:p>
          <a:p>
            <a:r>
              <a:rPr sz="1000">
                <a:latin typeface="Helvetica"/>
              </a:rPr>
              <a:t>KEY BAA POINT: the constraint on an in-environment LLM is NOT a missing BAA - Google Cloud's BAA already covers Vertex AI/Gemini, so an in-VPC model keeps data in-boundary. The gap is that AoU hasn't provisioned a governed in-VPC model; the BYO-key CLIs run under the user's own terms. See baa_llm_egress_evidence.md.</a:t>
            </a:r>
          </a:p>
          <a:p>
            <a:r>
              <a:rPr sz="1000">
                <a:latin typeface="Helvetica"/>
              </a:rPr>
              <a:t>AoU STRENGTHS (so the gaps are credible): data assets and GPU/AI compute are best-in-set; notebooks, OMOP, closed-tier security at parity. The deficiencies are platform-capability, not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phase4-recommendations/wg5_communications.md.</a:t>
            </a:r>
          </a:p>
          <a:p>
            <a:r>
              <a:rPr sz="1000">
                <a:latin typeface="Helvetica"/>
              </a:rPr>
              <a:t>Rec 1 (3.57): Impact Report v1 within 12 months. WG-2 defines metrics; WG-5 produces the report. NIH precedent: BD2K, BRAIN Initiative, Cancer Moonshot all publish annual impact products.</a:t>
            </a:r>
          </a:p>
          <a:p>
            <a:r>
              <a:rPr sz="1000">
                <a:latin typeface="Helvetica"/>
              </a:rPr>
              <a:t>Rec 2 (3.60): the four-strength narrative is the MOST EVIDENCE-DRIVEN recommendation in any WG - peer-index numbers are precise from the corpus analysis. Distinctive ≠ growing; the headline rests on these four genuine over-indexes. Dermatology 6.4× over-index is an artifact (rehearsed answer required).</a:t>
            </a:r>
          </a:p>
          <a:p>
            <a:r>
              <a:rPr sz="1000">
                <a:latin typeface="Helvetica"/>
              </a:rPr>
              <a:t>Rec 3 (3.60): the 21 per-IC briefs in aou-ic-alignment/per_ic_briefs/ are mostly drafted. Productize them rather than rebuilding.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phase4-recommendations/cross_cutting_synthesis.md §1.</a:t>
            </a:r>
          </a:p>
          <a:p>
            <a:r>
              <a:rPr sz="1000">
                <a:latin typeface="Helvetica"/>
              </a:rPr>
              <a:t>The five interlocks should be in the Sci Com's awareness because they determine whether the WGs ship semi-aligned outputs that compete or genuinely-aligned outputs that compound.</a:t>
            </a:r>
          </a:p>
          <a:p>
            <a:r>
              <a:rPr sz="1000">
                <a:latin typeface="Helvetica"/>
              </a:rPr>
              <a:t>CC-5 (Aging/ADRD) is a flag because no Top-3 currently owns it. AoU is at 6.0% post-2023 (≈peer median, index 0.84×) and growing (+4.7), but still trailing UKB's +6.9 surge in the lecanemab/donanemab era. Structural advantage (EHR + UBR diversity); the gap is narrowing rather than flat, so this is now a weaker-evidence flag than in the prior draft. NIA engagement workstream is the natural answer; outside any current Top-3.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aou-research-landscape/README.md; peer-biobanks/emerging_themes.md §caveats; phase4-recommendations/README.md.</a:t>
            </a:r>
          </a:p>
          <a:p>
            <a:r>
              <a:rPr sz="1000">
                <a:latin typeface="Helvetica"/>
              </a:rPr>
              <a:t>The dermatology caveat is NON-NEGOTIABLE to include - if Sci Com or external audiences see 'dermatology peer-index 6.4×' without context, they may push to elevate dermatology, which would mislead the Roadmap. Phase 1 README flagged the 1-2-prolific-groups origin; Phase 3b temporal trends show declining share.</a:t>
            </a:r>
          </a:p>
          <a:p>
            <a:r>
              <a:rPr sz="1000">
                <a:latin typeface="Helvetica"/>
              </a:rPr>
              <a:t>The peer-biobank fallback caveat protects against over-reading single-peer trend differentials. The static share index is what we ranked recommendations on.</a:t>
            </a:r>
          </a:p>
          <a:p>
            <a:r>
              <a:rPr sz="1000">
                <a:latin typeface="Helvetica"/>
              </a:rPr>
              <a:t>The pre-2023 baseline caveat is why we don't use AoU-internal pre/post trends as the headline growth metric - we use the peer-comparative gap analysis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aou-roadmap-refresh/committee_2026_alignment.md (public-safe items only; internal specifics kept out). These directions came from the 2026 Science Committee meeting series (Jan Priorities Roadmap; Feb Women's Health Driver Project; Apr Generalizability; May Multi-omics; the Roadmap Refresh WG). Verified citations: generalizability = Am J Epidemiology 2026 (DOI 10.1093/aje/kwag010) + waou on CRAN; women's health = J Women's Health 2026 (DOI 10.1177/15409996261434111). The multi-omics 10k preprint could not be verified, so it is described as program activity, uncited.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Summary of the priority recommendations (not decisions assigned to any group - the working groups are recognized need areas whose topics overlap and coordinate):</a:t>
            </a:r>
          </a:p>
          <a:p>
            <a:r>
              <a:rPr sz="1000">
                <a:latin typeface="Helvetica"/>
              </a:rPr>
              <a:t>(1) A 9th focus area, Data, AI &amp; Methods - frame-defining; gives the fastest-rising work a home.
(2) Rename FA8 + a proteomics-release roadmap - pair the structural signal with the data investment.
(3) A single shared bias-in-translation standard - coordinated across the Translational, Imaging, and AI need areas rather than three semi-aligned ones.
(4) Sequencing: the structural framework is the foundation the other need areas align to.
(5) Researcher Workbench build priorities - governed in-VPC AI assistant, reusable-tools registry, multimodal templates.</a:t>
            </a:r>
          </a:p>
          <a:p>
            <a:r>
              <a:rPr sz="1000">
                <a:latin typeface="Helvetica"/>
              </a:rPr>
              <a:t>If one recommendation rises above the rest: the 9th focus area - it is the structural prerequisite for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Selected anchors across the six sections. The complete verified reference list (72 references, 69 with resolvable DOIs, plus the frontier-methods additions) lives in the manuscript outline document's References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91440" cy="685800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5156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All of Us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Scientific Roadmap Refresh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515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216BB3"/>
                </a:solidFill>
                <a:latin typeface="Helvetica"/>
              </a:rPr>
              <a:t>Recommendations to the 2026 Science Committee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5486400" cy="1905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515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Working Group 1 - Scientific Roadmap Refresh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15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Georgia"/>
              </a:rPr>
              <a:t>Co-leads:  Jordan Smoller  •  Melissa Haendel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66666"/>
                </a:solidFill>
                <a:latin typeface="Georgia"/>
              </a:rPr>
              <a:t>Draft  •  October 14, 2026  •  for WG circulation and Science Committee pre-read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Our charge: refresh the Roadmap against Roadmap 2.0's six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WG-1 owns framework changes that no other WG can make. We must answer them so WG-2/3/4/5 have a coherent home.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has changed since 2023? </a:t>
            </a:r>
            <a:r>
              <a:rPr sz="1700">
                <a:solidFill>
                  <a:srgbClr val="333333"/>
                </a:solidFill>
                <a:latin typeface="Georgia"/>
              </a:rPr>
              <a:t>- evidence from the AoU corpus and the field's scientific direction.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are the biggest data gaps? </a:t>
            </a:r>
            <a:r>
              <a:rPr sz="1700">
                <a:solidFill>
                  <a:srgbClr val="333333"/>
                </a:solidFill>
                <a:latin typeface="Georgia"/>
              </a:rPr>
              <a:t>- where IC strategic plans demand capability AoU isn't yet producing.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How do we ensure research reproducibility? </a:t>
            </a:r>
            <a:r>
              <a:rPr sz="1700">
                <a:solidFill>
                  <a:srgbClr val="333333"/>
                </a:solidFill>
                <a:latin typeface="Georgia"/>
              </a:rPr>
              <a:t>- framework, tooling, and culture expectations for the next 5 years.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new tools are needed? </a:t>
            </a:r>
            <a:r>
              <a:rPr sz="1700">
                <a:solidFill>
                  <a:srgbClr val="333333"/>
                </a:solidFill>
                <a:latin typeface="Georgia"/>
              </a:rPr>
              <a:t>- researcher-facing capability the Workbench must add or enable.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exposures and outcomes should we capture, and how do we demonstrate impact? </a:t>
            </a:r>
            <a:r>
              <a:rPr sz="1700">
                <a:solidFill>
                  <a:srgbClr val="333333"/>
                </a:solidFill>
                <a:latin typeface="Georgia"/>
              </a:rPr>
              <a:t>- scope, instruments, and translational-impact measurement.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Are the 8 priority focus areas still right? </a:t>
            </a:r>
            <a:r>
              <a:rPr sz="1700">
                <a:solidFill>
                  <a:srgbClr val="333333"/>
                </a:solidFill>
                <a:latin typeface="Georgia"/>
              </a:rPr>
              <a:t>- structural review of the framework, the foundation the other 2026 need areas build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760720"/>
            <a:ext cx="11064240" cy="5943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33872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Strategic implication: only WG-1 can change the framework. Imaging, AI, and Communications recommendations must fit inside whatever we decide.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Methods: a five-step, evidence-driven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Reproducible Python pipeline (public repo). Every recommendation traces to a primary corpus, IC plan, peer biobank, or rubric cell.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37160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Inventory &amp; 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0992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corpus pulled live from the program APIs - 1,653 substantive publications (reconciled to PubMed/iCite) + 20,165 substantive workspace projects (live 32,922-workspace production pull, 2026-10-14). Keyword-tagged on title+abstract+PMC full text against a locked 19-theme taxonomy.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3172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Map to NIH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71576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Themes mapped onto 29 NIH strategic plans (NIH-Wide + 21 ICs); 166 priority statements extracted; IC attribution via NIH RePORTER grant IDs → corpus × IC alignment matrix.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3756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Compare to peers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2160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Full-census PubMed name-search of 4 peer biobanks (UK Biobank, FinnGen, MVP, China Kadoorie), tagged with the SAME tagger - a static theme-share index of AoU's distinctive strengths and gaps.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34340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891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Horizon scan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2744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Open-discovery term-acceleration over 322k preprints + 460k NIH grants (2021-26) → LLM topic induction, gap-checked vs AoU + peers, with an AoU data-feasibility overlay.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34924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9496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Benchmark &amp;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73328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Researcher Workbench vs 5 comparator platforms (87/87 citations fetch-verified); candidate recommendations scored on the 8-criterion Sci Com rubric (Smoller, Nov 2024) and ranked Top-3 per WG.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Evidence base: numbers that anchor every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Where claims rest on small samples (peer biobanks, pre-2023 baseline), we flag the limitation explicitly.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1,653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AoU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publications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20,165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workspace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projects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17336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NIH strategic plans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(NIH-Wide + 21 ICs)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4544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4544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IC strategic priorities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extracted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peer-biobank corpora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(UKB, FinnGen, MVP, CKB)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128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themes in the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locked taxonomy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17336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17336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17336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current AoU Roadmap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focus areas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24544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24544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5984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Sci Com rubric criteria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(Smoller, Nov 2024)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19-theme taxonomy: where AoU science actually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Cardiometabolic, Genomics, and Methods/AI together make up ~70% of the corpus.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Cardiometabolic 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29.0%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27048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Genomics methods &amp; complex-trait genetics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25.8%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773936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Methods, infrastructure &amp; phenotyping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18.6%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Mental health, behavioral &amp; substance 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19.4%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Cancer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Social determinants &amp; health disparities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32.6%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Wearables &amp; digital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5.3%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Infectious disease &amp; immunology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Autoimmune &amp; inflammatory disease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502152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7784" y="350215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350215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Rare disease &amp; Mendelian genetics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50215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3.8%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1280160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1850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Aging, frailty &amp; ADRD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1527048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Dermatology (artifact - flag)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12.8%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1773936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1850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Respiratory &amp; sleep medicine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6424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4.2%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1850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Neurology (non-ADRD)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6424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6.1%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1850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084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Pregnancy, maternal &amp; women's health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4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1850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084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Pharmacogenomics &amp; drug response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2.3%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1850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ELSI, participant engagement &amp; recruitment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4.4%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1850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Ophthalmology, ENT &amp; sensory medicine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7.3%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1850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Environmental health &amp; climate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6424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0.6%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5989320"/>
            <a:ext cx="111556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Highlighted: Theme 3 (Methods/AI) is the single largest corpus orphan - currently with NO home in the 8-area framework.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Shares are share-of-corpus-touched (pubs can multi-tag); rows therefore sum &gt;100%.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8 focus areas mostly hold - but three structural gaps need fixing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Q6 answer: yes at the top level, with three named exceptions to address in the Roadmap framework.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Methods, AI &amp;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18% of substantive pubs (262) and 19% of projects (2,388) have NO clean home in the 8-area framework.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Includes the AI/foundation-model surge (HA4: 37 pubs, 34 post-2023), workbench tooling, EHR phenotyping, federated learning.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Sub-signal: AoU peer-index 3.0× - distinctive AoU strength currently invisible in the framework.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86 pubs (5.3% share) - a 2023 Roadmap priority that has nowhere to live in the 8 areas.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Trend is flat (+0.2) - wearables have already MATURED, not emerging. Important reframe.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Stretch-fit into FA5 (Behavioral) misses sleep, HRV, circadian, multimodal EHR+wearable AI 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5592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INVISIBLE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Multi-omics inside "Genetics &amp; Biology"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Multi-omics is a 2023 Roadmap priority that is buried inside FA8.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HA1: 24 pubs (23 post-2023), mostly external proteomics linked to AoU genotypes.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Largest peer-comparative growth differential: UKB 13.5% post-2023 vs AoU 2.1%. 2026 omics releases need a NAMED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56048"/>
            <a:ext cx="1120140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For reference - the current 8 focus areas:  (1) Prevalent Common &amp; Rare Conditions · (2) Maternal &amp; Child Health · (3) Healthy Aging &amp; Resilience · (4) Return of Results on Individual &amp; Population Health · (5) Lifestyle, Substance &amp; Behavioral Health · (6) Environment · (7) Health Equity · (8) Genetics &amp; Biology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394960"/>
            <a:ext cx="11201400" cy="868680"/>
          </a:xfrm>
          <a:prstGeom prst="rect">
            <a:avLst/>
          </a:prstGeom>
          <a:solidFill>
            <a:srgbClr val="FFF7E8"/>
          </a:solidFill>
          <a:ln w="1524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440680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Recommendation 1: add a 9th focus area - "Data, AI &amp; Methods"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Consolidates theme 3 (the 18% with no home), wearables, AI/foundation models, and imaging-as-data once it flows. Without it, the Imaging and AI need areas have no coherent home in the Roadmap.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focus-area framework: current (2020) and proposed refresh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Keep the eight that work, add a ninth for the orphaned fast-growing work, and reframe four, so the framework matches where the science 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201400" cy="4197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56532"/>
                <a:gridCol w="2912364"/>
                <a:gridCol w="4032504"/>
              </a:tblGrid>
              <a:tr h="329184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</a:rPr>
                        <a:t>Current focus area (2020 roadmap)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</a:rPr>
                        <a:t>Proposed in the refresh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</a:rPr>
                        <a:t>Why it needs to change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1. Prevalent Common &amp; Rare Conditions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Keep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Core disease anchor; largest share of output.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2. Maternal &amp; Child 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Maternal 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Child-health output is thin; sharpen the scope.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3. Healthy Aging &amp; Resilience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Keep (watch)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Fits, but aging is one of the five peer gaps.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4. Return of Results (Individual &amp; Population)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Return-of-results implementation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Move from concept to implementation.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5. Lifestyle, Substance &amp; Behavioral Health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Keep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Fits.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6. Environment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Environment + exposure linkage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Largest demand-supply gap; Nov 2, 2026 release makes it actionable.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7. Health Equity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Keep &amp; protect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AoU's distinctive, defining strength.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8. Genetics &amp; Biology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Genetics, Multi-omics &amp; Biology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Name multi-omics; the 2026 omics releases need a home.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9. (none today)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Data, AI &amp; Methods  (NEW)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~18% of output + the AI/foundation-model surge have no home. The key change.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897880"/>
            <a:ext cx="11201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Four of the eight are reframed, not replaced; the one structural addition is the 9th focus area. Detail and rationale in the recommendations.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already realized in the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(what's changed since 2023): the AoU researcher base is delivering on these without further investment.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AI / LLMs / foundation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37 pubs (HA4); 34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PMID:39794311 foundation-model phenome-wide onset prediction; PMID:40417537 DL time-to-event depression/asthma; PMID:40750633 PAL-AI oocyte maturation.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Theme 3 peer-index 3.0×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Breakthrough therapeutics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30 pubs (HA8); 29 post-2023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GLP-1 hepatic decompensation (PMID:41847743); third-line CRC cost-effectiveness (PMID:41807852); obesity meds vs bariatric trends (PMID:41741949).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Clearest 'translation in progress' signal in the corpus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86 pubs (HA2); 78 post-2023; trend 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Mature, not emerging - AoU wearable data already links sleep patterns to chronic-disease risk at scale (Zheng et al., Nat Med 2024). Sleep-stage, HRV, circadian, multimodal EHR+wearable AI all happening, but invisible in the framework.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Reframe: recognition gap, not growth gap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G×E×SDOH integrated holistic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12 pubs (HA6); 0 pre-2023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Genuinely novel category. PMID:41518215 PRS + neighborhood disorder + sleep; PMID:42109163 CoQ10 PRS + statin myopathy.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AoU positioned to LEAD the field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aspirational - pending upstream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(continued): these need data-supply or sample-collection decisions, not researcher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Multi-omics beyond genomics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33 pubs (HA1); 32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proteomics/metabolomics linked to AoU genotypes (PMID:41712304 COPD proteomics+PRS; PMID:40050615 fibroid GWAS+eQTL).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13.5% post-2023 / AoU 2.1% - largest growth differential. 2026 release closes mechanically.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Imaging / radiomics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8 pubs total (HA3) - below thin-coverage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All 8 use EXTERNAL imaging linked to AoU phenotypes (UKB MRI, EHR mammography). No AoU-originated imaging.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AoU corpus shows almost no imaging delivery yet. WG-3 starts from infrastructure.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Nutrition / microbiome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15 pubs (HA7); structurally limited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AoU dietary surveys thin vs UKB 24-hour recall; no stool biospecimens collected.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11.3% / FinnGen 14.6% post-2023 / AoU 0.8%. Requires sample-collection decision.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Environmental health &amp; climate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15 pubs (HA5); 10 substantive (theme 19)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single demand-supply gap in the IC alignment matrix. NIEHS has 6 plan priorities tagged here.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Requires PM2.5 / EJI / heat / water linkage investment - engineering, not data acquisition.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IC alignments stand out as AoU's strongest current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is anchored on plain-text plan language we can quote in funding conversations.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4032504"/>
                <a:gridCol w="4704588"/>
              </a:tblGrid>
              <a:tr h="41148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IC × Theme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 it's strong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Anchor language we can cite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NHGRI × Genomics methods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Largest single matrix cell. AoU delivers Bold Prediction #9 (equitable benefit from genomics for ancestrally diverse populations).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"…the equitable benefit of genomics for all populations." - NHGRI 2020 Strategic Vision, BP #9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NIMHD × SDOH / disparities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Goal 7 literally describes the AoU mandate. AoU 32.6% SDOH share; 5.4× peer median.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"…analysis of populations experiencing health disparities in big data sets, clinical research, and future big science initiatives." - NIMHD 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NLM × Methods / infrastructure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The only IC plan that explicitly names All of Us. Theme 3: 262 pubs, 2,388 projects.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"NLM will engage with the entire NIH to determine how to accommodate data generated in … All of Us." - NLM 2017–2027 Strategic Plan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57784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50992"/>
            <a:ext cx="10835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Headline read: lead the WG-1 narrative with the genomics-and-genomics story; NIMHD G7 is the strongest political-defense anchor; NLM is the only mission-explicit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demand-side gaps: ICs want capability AoU isn't yet producing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requires a different kind of decision (engineering, governance, or sample collection).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NIEHS ×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6 IC priorities  ↔  7 AoU substantive pubs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demand-supply gap in the entire matrix.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Engineering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PM2.5, EJI, heat, water - external public data + AoU geocoding.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NCI / NEI / NIBIB × Imaging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Multiple IC priorities  ↔  8 AoU pubs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Data-supply problem (no AoU imaging release), not researcher demand problem.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Governance + release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Tier 1 retinal/ECG/spirometry; Tier 2 EHR DICOM; Tier 3 prospective.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NIDDK / NHLBI × Multi-omics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NIDDK RO 1.3 + NHLBI Obj 4  ↔  24 AoU pubs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 linked to AoU genotypes today.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Closes mechanically - 2026 omics 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Plus FA8 rename to send a forward signal (Rec 2).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NIA × Aging / ADRD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Lecanemab/donanemab era  ↔  AoU at 6.0% (near peer median)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Peer growth (UKB +6.9; MVP +5.4; CKB +5.1 post-2023); AoU growing (+4.7) but trailing UKB despite structural advantage.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Engagement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Surfaces as cross-cutting flag (no single WG owns it; CC-5).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Peer-biobank comparison: AoU's gaps and AoU's distinctive 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Same-tagger keyword search across UK Biobank (12,986 pubs), FinnGen (3,376), MVP (501), and CKB (588) - full PubMed census.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Where AoU is UNDER-INDEXED vs peers</a:t>
            </a:r>
          </a:p>
        </p:txBody>
      </p:sp>
      <p:pic>
        <p:nvPicPr>
          <p:cNvPr id="7" name="Picture 6" descr="peer_under_inde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8760"/>
            <a:ext cx="5852160" cy="2845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6BB3"/>
                </a:solidFill>
                <a:latin typeface="Helvetica"/>
              </a:rPr>
              <a:t>Where AoU LEADS the peer median</a:t>
            </a:r>
          </a:p>
        </p:txBody>
      </p:sp>
      <p:pic>
        <p:nvPicPr>
          <p:cNvPr id="9" name="Picture 8" descr="distinctive_streng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508760"/>
            <a:ext cx="5806440" cy="270721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1A3A6B"/>
                </a:solidFill>
                <a:latin typeface="Helvetica"/>
              </a:rPr>
              <a:t>The narrative sentence (for the Sci Com presentation and WG-5 ambassador toolkit):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"Every other cohort scaled up genomics; AoU scaled up everything around genomics that genomics actually needs to work in practice."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Horizon scan: emerging science AoU has not yet claimed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Open-discovery scan of 322k preprints + 460k NIH grants (2021-26): trends accelerating fastest that are near-absent in AoU - filtered to what AoU's data can support.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252"/>
                <a:gridCol w="2912364"/>
                <a:gridCol w="784098"/>
                <a:gridCol w="784098"/>
                <a:gridCol w="4704588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Emerging trend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Field signal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now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fit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AoU should do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Genomic foundation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DNA language models; ~11k pubs in 2025 (4× since 2021)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0.1%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Build/benchmark ancestry-fair genomic FMs on AoU's diverse WGS + EHR - a substrate no peer matches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LLMs + agentic AI on 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LLM-in-medicine pubs up 47× (2021→2025); agentic AI 19×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Workbench AI co-scientist + RAG over AoU data/dictionary (directly powers WG-4 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MASLD / MASH (steatotic liver)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2023 NAFLD→MASLD renaming now standard; ~19k pubs/2025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Adopt MASLD as a curated EHR+labs phenotype - low effort, high credibility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Aging epidemiology (not bench senescence)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Aging-biology surge; ~51k pubs/2025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~0%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EHR + biomarker studies of aging; the cellular-senescence biology is out of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Digital health / wearables AI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mHealth interventions rising; AoU already has Fitbit data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Wearable-derived phenotypes + multimodal EHR+wearable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257800"/>
            <a:ext cx="11201400" cy="713232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321808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Watch, don't build - real frontiers OUTSIDE AoU's data model: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96128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Single-cell &amp; spatial tissue omics · AI protein structure (AlphaFold3/Boltz) · iPSC models · gene-editing wet-lab. Exploding in the literature, but AoU collects none of the underlying assays - partner, don't chase.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The top two gaps ARE the proposed 9th focus area (Data, AI &amp; Methods) and the Workbench AI co-scientist - external evidence those recommendations point at the field's leading edge.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Ancillary studies: new modalities the publication record can't yet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Partnered studies add data on top of the core protocol; several post-date the 2020 roadmap and are only now releasing data. We score them on stated goals + live workspace intent - a leading indicator.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1120140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8336"/>
                <a:gridCol w="5824728"/>
                <a:gridCol w="1568196"/>
                <a:gridCol w="1120140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Partnered study (sponsor)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Stated goal / new modality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Workspaces (new-pull)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pubs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Exploring the Mind  (NIMH)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Goal: add objective behavioral-health data - tasks measuring attention, decision-making, response time/accuracy, emotion recognition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32  (27 new)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 pubs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Eyes on Health  (NEI + NIBIB)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Oculomics: retinal images from 5,000 participants; the eye as a window to CVD, diabetes &amp; neurological disease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166  (95 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early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Nutrition for Precision Health  (Common Fund)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Enroll 8,000 participants; build algorithms predicting individual responses to food &amp; dietary patterns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  (81 new)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early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Environmental Health &amp; Exposomics  (NIEHS)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Assay 5,500+ stored samples for environmental exposures × genomic/behavioral factors (T2D deep-dive)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399  (196 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growing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4617720"/>
            <a:ext cx="11201400" cy="11430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690872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3A6B"/>
                </a:solidFill>
                <a:latin typeface="Helvetica"/>
              </a:rPr>
              <a:t>Workspaces lead publications by a year or more - the clearest case for a LIVE pull: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992624"/>
            <a:ext cx="1088136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Exploring the Mind has ZERO publications or preprints anywhere (verified live against Europe PMC, which indexes preprints) - yet 32 workspaces already reference it, and 27 were invisible in the pre-refresh (2025-10-24) workspace snapshot. Cognition/mental-health work is now 13% of all 32,922 workspaces. A roadmap scored only on existing literature would systematically undervalue every ancillary study.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97880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Recommendation: give each ongoing ancillary study an explicit home in the relevant focus area, scored on goal + workspace signal and flagged “data emerging”; add a standing AoU-linked preprint stream so the next wave surfaces earlier.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Scientific Roadmap: the structural framework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Priority scores in parentheses. Recommendations for the Committee's consideration; the related need areas overlap and coordinate.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4704588"/>
                <a:gridCol w="4816602"/>
                <a:gridCol w="1120140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Score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Add a 9th focus area: "Data, AI &amp; Methods"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Consolidates theme 3 (18% of output with no home), wearables (86 pubs), AI/foundation models (37 pubs), and imaging-as-data once it flows.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3.71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Rename FA8 → "Genetics, Multi-omics &amp; Biology" + a proteomics-release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Signal that 2026 omics releases (Olink / SomaScan) have a home. UKB 13.5% post-2023 / AoU 2.1% - largest growth differential.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Bundle focus-area reframes: FA4 toward ROR implementation; FA2 → "Maternal Health"; FA6 environmental-exposure linkage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FA4 trend −9.8 (ELSI work maturing out, ROR implementation continues); FA2 has no Child content; FA6 is the largest demand-supply 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3.00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Why these?  They are the structural framework changes - the prerequisite the other recognized need areas build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Aging/ADRD, microbiome, reproducibility framework, subcontinental ancestry - surfaced in cross-cutting synthesis as Tier-2 or other-WG.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WG-2 Translational: define what counts as translational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Sanchez &amp; Cohn. Recommendations bridge WG-1's framework and WG-5's reporting.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Adopt a formal translational-impact metric set (TSBM-based)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Replication in peers; consortium adoption (RDCRN, ClinGen, GREGoR, eMERGE); FDA/CMS citations; NCT enablement; CDC/USPSTF/NAM citations.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Name 3–5 priority translational use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ACMG actionable-gene implementation (54 pubs/433 projects); multi-ancestry PRS clinical pilots; PGx implementation (4.6× peer); cardiometabolic+SDOH; RWE for breakthrough therapeutics.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Bias-in-translation framework - AoU as pan-NIH diversity benchmark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UBR oversample as a citable diversity reference. ELSI 24.0× + SDOH 5.4× are the political-defense argument. FDA Modernization Act 2.0 creates a regulatory window.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3.75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WG-2 also-considered (deprioritized): NCATS-Translator data linkage; partner-cohort replication pipeline; RWE for breakthrough therapeutics (folded into Rec 2 as use case).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WG-3 Imaging: starting from infrastructure, not utilization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Burnside &amp; Giannini. The 2026 Imaging WG begins with 8 corpus pubs - the question is data release, not research demand.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Staged imaging release roadmap by modality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Tier 1: retinal photos, ECG/spirometry waveforms (lowest friction). Tier 2: EHR DICOM (chest X-ray, CT, mammography). Tier 3: prospective MRI in subcohort.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DICOM + FHIR-ImagingStudy standards; radiomics-to-phecode crosswalk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Anchor imaging features to the existing phecode analytic spine (Smoller's 3.80 rubric). NLM-G1 + NIBIB-G4 alignment.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Pre-launch data-quality + bias-audit framework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Inherits the WG-2 bias-in-translation framework. Image-QC per modality; UBR representation audit; per-image 'bias report card'; governance for derivative datasets.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Reality check: AoU corpus has 9 imaging pubs (HA3, ~0.6%), almost all using EXTERNAL imaging linked to AoU phenotypes. WG-3 starts from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WG-4 AI Strategies: researchers are already using AI - define what AoU provides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Sastry. HA4 already has 37 AI pubs (34 post-2023); the question is what AoU builds, integrates, or governs.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Workbench AI co-scientist (cohort-builder + code-generator)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NL-to-OMOP/phecode/PRS cohort definition + analytic skeleton. Builds on phecode + CLAMP infrastructure. Reduces time-to-first-result Workbench friction.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AI governance + bias-mitigation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 auditing for AoU-derived AI; data-use review (training vs inference); Workbench-native bias-audit template; IRB/ELSI integration for participant-facing AI.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Foundation-model evaluation framework (build-vs-buy by end of 2027)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Structured evaluation of existing EHR foundation models (Med-PaLM, EHR-FM family) against AoU benchmarks. Explicit decision-deadline rather than open question.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B35900"/>
                </a:solidFill>
                <a:latin typeface="Georgia"/>
              </a:rPr>
              <a:t>Rec 1 (3.88) is the HIGHEST RUBRIC MEAN across all 5 WGs. Direct researcher impact + standardizes use of validated phenotypes + simplifies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Researcher Workbench: capability gaps vs comparators, and what to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Benchmarked vs N3C, Terra/AnVIL, BioData Catalyst, UKB-RAP, Kids First. AoU leads on data &amp; GPU; gaps are in reuse, governed AI, and portability. 87/87 citations source-verified.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Verified gaps (where every comparator exceeds AoU)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shared tool/workflow reuse registry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AoU documents workspace sharing only; N3C, Terra (Dockstore), BDC &amp; Kids First all publish reusable apps/workflows. Corroborated: 88% of AoU workspaces are solo, ~18% are tutorial clones. An unreleased 2026 ACT-IAC/AoU AI/ML white paper independently recommends exactly this (reusable-asset registry, graduated Bronze/Silver/Gold certification).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999232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governed in-environment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Only bring-your-own-key Claude Code/Gemini CLI - can't touch participant data. LLM/RAG/agentic use is ~0% in workspaces.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portable-workflow / GA4GH 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Comparators package analyses (CWL/WDL/Nextflow) and exchange via GA4GH DRS; AoU standardizes data (OMOP) but not analyses.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B35900"/>
                </a:solidFill>
                <a:latin typeface="Helvetica"/>
              </a:rPr>
              <a:t>Build priorities (“Now” tier)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554480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1. Governed in-VPC AI co-scientist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Vertex/Gemini (or Claude-on-Vertex) under the existing Google Cloud BAA + RAG over the data dictionary. Legal blocker is governance, not the BAA. Powers WG-4 Rec 1.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9232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2. Reusable tool/workflow registry + apps gallery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Dockstore-style registry + “publish your analysis” gallery + featured workspaces, to convert clones into shared, reusable artifacts.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443984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3. Multimodal integration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Templates + feature store joining WGS + EHR + surveys + wearables - AoU is the only platform co-locating these; fastest-rising method, ~1.6% adoption.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53328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1A3A6B"/>
                </a:solidFill>
                <a:latin typeface="Georgia"/>
              </a:rPr>
              <a:t>AoU leads on data assets (linked WGS+EHR+surveys+wearables) and GPU/AI compute (H100/H200/B200+NeMo) - the deficiencies are in turning that into shared, AI-enabled, reusable science. Operationalizes the proposed 9th focus area + Workbench AI co-scientist.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WG-5 Scientific Communications: turn the corpus evidence into legible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Korf. Converts framework + metrics + distinctive evidence into Sci Com / IC / Congressional / participant products.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Annual AoU Impact Report (built on WG-2's TSBM metrics)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Single externally-citable artifact aggregating translational, scientific, equity, and engagement performance. Publish v1 within 12 months.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3.57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Plain-language distinctive-evidence narrative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ELSI 24.0× + SDOH 5.4× + PGx 4.3× + methods 2.8×. Anchors the Sci Com ambassador toolkit and IC-PO briefings. "AoU scaled up everything around genomics that genomics needs to work."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Five audience-tuned dissemination products + Sci Com ambassador toolkit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Researcher digest; per-IC briefs (21 already drafted); Congressional 2-page brief; annual participant report; journalist story-pitch sheets.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The distinctive-evidence narrative (Rec 2) is the political-defense story under which every other WG's recommendations should be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Five cross-WG dependencies the Sci Com should coordinate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Without these handshakes the WGs ship semi-aligned outputs that compete instead of compounding.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44168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316736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9th focus area enables WG-3 + WG-4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82496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WG-1's framework change is the structural prerequisite for both Imaging and AI work to have a coherent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04288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Bias-framework hierarchy across WG-2 / WG-3 / WG-4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670048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normative framework → WG-3 imaging audit → WG-4 AI audit. Three WGs should align on a SINGLE AoU bias-reporting standard.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73552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85032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91840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WG-2 metrics feed WG-5 Impact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657600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defines TSBM metrics; WG-5 produces the annual Report. Coordinate cadence so Report v1 ships within 12 months.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261104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306824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72584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279392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WG-5 narrative requires WG-1 framework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645152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The distinctive-evidence narrative depends on framework being settled. Pre-Sci Com circulation should sequence WG-1 → WG-5.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48656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94376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60136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266944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Aging/ADRD - no WG owns it cleanly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32704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Narrowing peer gap (AoU 6.0% post-2023, ~peer median 0.84×, trend +4.7 vs UKB +6.9 / MVP +5.4 / CKB +5.1). FLAG for WG leads; consider Tier-2 priority + WG-5 patient story.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Caveats - three things to keep in mind when reading these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caveat is a reason to be careful, not a reason to discount the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280160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98448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Dermatology over-representation is an ARTIFACT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Dermatology is 12.8% of the corpus and 6.4× the peer median - but driven by 1–2 prolific groups, not a strategic priority. Trend score −5.5 (declining share). Do NOT elevate dermatology in the Refresh even though the share index suggests it. WG-5 ambassador toolkit must have the artifact answer rehearsed.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07792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26080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Peer-biobank counts use PubMed name-search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19272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UKB, FinnGen, MVP, and CKB corpora come from PubMed name-search with same-tagger keyword tagging - now full PubMed censuses (UKB 12,986; FinnGen 3,376; MVP 501; CKB 588). Internally consistent across peers but absolute counts under- and over-count differently. USE THE STATIC SHARE INDEX, not trend differentials, for action-relevant comparisons. MVP corpus is small (501); single-MVP signals need a second-peer corroboration.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535424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53712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AoU pre-2023 baseline is tiny (157 pubs)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946904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Any active post-2023 theme will trend positive in AoU's split simply because the corpus grew ~9.5× from pre- to post-2023. Apparent 'growth' on cardiometabolic, mental health, and cancer is largely a small-baseline artifact - read as 'AoU has built a presence here,' not 'AoU is uniquely outpacing the field.' True growth signals come from the peer-comparison panel, not from the AoU-internal pre/post split.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2026 committee directions, mapped to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Ideas surfaced in the 2026 Science Committee meeting series - where each one lands in this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25880"/>
          <a:ext cx="112014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4588"/>
                <a:gridCol w="6496812"/>
              </a:tblGrid>
              <a:tr h="347472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2026 committee direction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Where it lands in this analysis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Driver-project / driver-paper model (Women's Health Driver Project)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Adopt as a standing mechanism; make rare-disease &amp; intersectional (e.g. rare disease × rurality) driver papers a near-term deliverable - attacks the rare-disease peer-gap.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Generalizability tooling - the waou R package (Am J Epidemiol 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Weights AoU estimates to the US population; promote to a documented, reusable Workbench capability (addresses the volunteer-cohort caveat).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Multi-omics on ~10,000 diverse participants (RNA-seq + Olink + long-read; →~50k)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Live program activity; confirms the FA8 → “Genetics, Multi-omics &amp; Biology” rename + proteomics-release recommendation.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External biospecimen-request mechanism (academic / nonprofit / industry)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Publicly posted; the data-generation arm of a partner ecosystem - pairs with the RW reusable-assets / partner-tools gap.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Internal AoU foundation model, NO data egress + a “super user group” (Ginsburg)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Unifies the genomic-FM white-space and the governed in-environment AI gap into one program-owned build.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Environmental dataset release - November 2,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Geocoded residential history + linked social/environmental variables: the near-term milestone closing the environmental peer-gap.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806440"/>
            <a:ext cx="1120140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These are committee-originated; the analysis corroborates them and shows where each attaches to the roadmap. Full detail in the committee-alignment write-up.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Priority recommendations, for the Committee's consideration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Grouped by recognized need area; the areas overlap and are meant to be coordinated, not actioned by any single group.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612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9th focus area: "Data, AI &amp; Methods"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5819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Frame-defining for the Imaging and AI need areas; gives the field's fastest-rising work a coherent home in the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574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0756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Rename FA8 to "Genetics, Multi-omics &amp; Biology" + a proteomics-release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4963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Signals that the 2026 omics releases have a home. Pair the rename with the data investment.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9718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CROSS-CUT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9900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single shared bias-in-translation standard (normative + imaging + 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107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One All of Us bias-reporting standard rather than three semi-aligned ones - coordinated across the Translational, Imaging, and AI need areas.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862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SEQUENCE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9044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Settle the structural framework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3251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The framework changes are the foundation; aligning the other need areas to them works best once the framework is set.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8006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9834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WORKBENCH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8188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Researcher Workbench build priorities: a governed in-VPC AI assistant, a reusable-tools registry, and multimodal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2395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Evidence-verified gaps vs N3C, Terra, BDC, UKB-RAP &amp; Kids First. The in-VPC LLM is permissible under the existing Google Cloud BAA.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0720"/>
            <a:ext cx="11201400" cy="5943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815584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FFFFFF"/>
                </a:solidFill>
                <a:latin typeface="Helvetica"/>
              </a:rPr>
              <a:t>Thank you. We look forward to the Committee's discussion. - Jordan Smoller &amp; Melissa Haendel, WG-1 Co-leads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Selected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Most-cited anchors behind these findings; full verified list (with DOIs) in the manuscript outline document.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5715000" cy="4846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1.  All of Us Research Program. NEJM 2019.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doi.org/10.1056/NEJMsr1809937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2.  AoU Genomic Data. Nature 2024.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doi.org/10.1038/s41586-023-06957-x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3.  Ramirez et al. Data Quality/Workbench. Patterns 2022.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doi.org/10.1016/j.patter.2022.100570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4.  Sudlow et al. UK Biobank. PLoS Med 2015.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doi.org/10.1371/journal.pmed.1001779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5.  Kurki et al. FinnGen. Nature 2023.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doi.org/10.1038/s41586-022-05473-8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6.  Martin et al. PRS &amp; equity. Nat Genet 2019.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doi.org/10.1038/s41588-019-0379-x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7.  Moor et al. Generalist medical AI. Nature 2023.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doi.org/10.1038/s41586-023-05881-4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8.  Dalla-Torre et al. Nucleotide Transformer. Nat Methods 2025.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doi.org/10.1038/s41592-024-02523-z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325880"/>
            <a:ext cx="5760720" cy="4846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9.   Rinella et al. MASLD nomenclature. Hepatology 2023.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doi.org/10.1097/HEP.0000000000000520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10. Haendel et al. N3C. JAMIA 2021.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doi.org/10.1093/jamia/ocaa196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11. Schatz et al. AnVIL. Cell Genomics 2022.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doi.org/10.1016/j.xgen.2021.100085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12. Wilkinson et al. FAIR principles. Sci Data 2016.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doi.org/10.1038/sdata.2016.18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13. Obermeyer et al. Algorithmic bias. Science 2019.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doi.org/10.1126/science.aax2342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14. Montgomery et al. Generalizability (AoU). Am J Epidemiol 2026.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doi.org/10.1093/aje/kwag010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15. Cohn et al. Women's Health Driver Project. J Women's Health 2026.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doi.org/10.1177/15409996261434111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961888"/>
            <a:ext cx="1120140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Co-lead anchors (J. Smoller): cross-disorder psychiatric GWAS (Lancet 2013, doi.org/10.1016/S0140-6736(12)62129-1); EHR phenotyping &amp; genomics (Am J Med Genet B 2018, doi.org/10.1002/ajmg.b.32548); PRS/PheWAS across health systems (Am J Psychiatry 2019).  Additional All of Us: Cronin surveys (Epidemiology 2019); Tesfaye SDOH (Sci Rep 2024); Zheng wearable sleep (Nat Med 2024, doi.org/10.1038/s41591-024-03155-8); Kozlowski year-in-review (AJHG 2024).  Full verified list (85 refs, DOIs) in the manuscript outline document.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